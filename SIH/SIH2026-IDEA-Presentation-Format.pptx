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" y="2011680"/>
            <a:ext cx="658368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Problem Statement ID:</a:t>
            </a:r>
            <a:r>
              <a:rPr sz="1700" b="1">
                <a:solidFill>
                  <a:srgbClr val="0F172A"/>
                </a:solidFill>
                <a:latin typeface="Calibri"/>
              </a:rPr>
              <a:t> SIH26038</a:t>
            </a:r>
            <a:endParaRPr lang="en-US" dirty="0"/>
          </a:p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Problem Statement Title:</a:t>
            </a:r>
            <a:r>
              <a:rPr sz="1700" b="0">
                <a:solidFill>
                  <a:srgbClr val="1E293B"/>
                </a:solidFill>
                <a:latin typeface="Calibri"/>
              </a:rPr>
              <a:t> Explainable AI for Diabetic Retinopathy Screening in Rural India</a:t>
            </a:r>
          </a:p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Theme:</a:t>
            </a:r>
            <a:r>
              <a:rPr sz="1700" b="0">
                <a:solidFill>
                  <a:srgbClr val="1E293B"/>
                </a:solidFill>
                <a:latin typeface="Calibri"/>
              </a:rPr>
              <a:t> MedTech / Healthcare / Clean &amp; Green Technology</a:t>
            </a:r>
          </a:p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PS Category:</a:t>
            </a:r>
            <a:r>
              <a:rPr sz="1700" b="0">
                <a:solidFill>
                  <a:srgbClr val="1E293B"/>
                </a:solidFill>
                <a:latin typeface="Calibri"/>
              </a:rPr>
              <a:t> Software</a:t>
            </a:r>
          </a:p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Team ID:</a:t>
            </a:r>
            <a:r>
              <a:rPr sz="1700" b="0">
                <a:solidFill>
                  <a:srgbClr val="1E293B"/>
                </a:solidFill>
                <a:latin typeface="Calibri"/>
              </a:rPr>
              <a:t> [Registered Team ID]</a:t>
            </a:r>
          </a:p>
          <a:p>
            <a:pPr>
              <a:spcBef>
                <a:spcPts val="2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3A8A"/>
                </a:solidFill>
                <a:latin typeface="Calibri"/>
              </a:rPr>
              <a:t>Team Name:</a:t>
            </a:r>
            <a:r>
              <a:rPr sz="1700" b="1">
                <a:solidFill>
                  <a:srgbClr val="0F172A"/>
                </a:solidFill>
                <a:latin typeface="Calibri"/>
              </a:rPr>
              <a:t> VisionX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buNone/>
            </a:pPr>
            <a:r>
              <a:rPr sz="2200" b="1">
                <a:solidFill>
                  <a:srgbClr val="0F172A"/>
                </a:solidFill>
                <a:latin typeface="Calibri"/>
              </a:rPr>
              <a:t>VisionX: Explainable Edge-AI for Diabetic Retinopathy Screening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858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Clinical Decision Support: </a:t>
            </a:r>
            <a:r>
              <a:rPr sz="960" b="0">
                <a:solidFill>
                  <a:srgbClr val="1E293B"/>
                </a:solidFill>
                <a:latin typeface="Calibri"/>
              </a:rPr>
              <a:t>Offline-first Explainable AI system for rapid point-of-care Diabetic Retinopathy (DR) grading in rural Primary Health Centers (PHCs).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End-to-End Pipeline: </a:t>
            </a:r>
            <a:r>
              <a:rPr sz="960" b="0">
                <a:solidFill>
                  <a:srgbClr val="1E293B"/>
                </a:solidFill>
                <a:latin typeface="Calibri"/>
              </a:rPr>
              <a:t>Integrates 5-Pillar Quality Gating, ResNet-50 grading, and lesion-level localization (MAs, HMs, EXs, CWS).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Detailed explanation of the proposed solution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5-Pillar Auto Quality Gate: </a:t>
            </a:r>
            <a:r>
              <a:rPr sz="960" b="0">
                <a:solidFill>
                  <a:srgbClr val="1E293B"/>
                </a:solidFill>
                <a:latin typeface="Calibri"/>
              </a:rPr>
              <a:t>Validates sharpness (Laplacian &gt;= 2.0), illumination, coverage, and vascular chrominance to reject corrupt scans.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ResNet-50 Core Diagnostics: </a:t>
            </a:r>
            <a:r>
              <a:rPr sz="960" b="0">
                <a:solidFill>
                  <a:srgbClr val="1E293B"/>
                </a:solidFill>
                <a:latin typeface="Calibri"/>
              </a:rPr>
              <a:t>Delivers 5-class severity grading (No DR to Proliferative DR) in 1.2s on commodity CPUs (no GPU needed).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Explainable Lesion Engine: </a:t>
            </a:r>
            <a:r>
              <a:rPr sz="960" b="0">
                <a:solidFill>
                  <a:srgbClr val="1E293B"/>
                </a:solidFill>
                <a:latin typeface="Calibri"/>
              </a:rPr>
              <a:t>Combines Grad-CAM attention with vascular &amp; optic disc masking to pinpoint precise micro-pathologies.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Dual-Mode Explanations: </a:t>
            </a:r>
            <a:r>
              <a:rPr sz="960" b="0">
                <a:solidFill>
                  <a:srgbClr val="1E293B"/>
                </a:solidFill>
                <a:latin typeface="Calibri"/>
              </a:rPr>
              <a:t>Provides simple patient summaries + bracketed ETDRS medical terms for healthcare workers.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How it addresses the problem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Overcomes Specialist Deficit: </a:t>
            </a:r>
            <a:r>
              <a:rPr sz="960" b="0">
                <a:solidFill>
                  <a:srgbClr val="1E293B"/>
                </a:solidFill>
                <a:latin typeface="Calibri"/>
              </a:rPr>
              <a:t>Empowers rural ASHA/ANM workers to conduct triage for 77M+ diabetics without on-site ophthalmologists.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Eliminates Diagnostic Skepticism: </a:t>
            </a:r>
            <a:r>
              <a:rPr sz="960" b="0">
                <a:solidFill>
                  <a:srgbClr val="1E293B"/>
                </a:solidFill>
                <a:latin typeface="Calibri"/>
              </a:rPr>
              <a:t>Doctors distrust black-box AI; VisionX pinpoints exact lesions and risk drivers to foster clinical trust.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Zero False-Negative Safety: </a:t>
            </a:r>
            <a:r>
              <a:rPr sz="960" b="0">
                <a:solidFill>
                  <a:srgbClr val="1E293B"/>
                </a:solidFill>
                <a:latin typeface="Calibri"/>
              </a:rPr>
              <a:t>Quality gate blocks blurry scans while calibrated decision logic achieves 100% sensitivity for severe DR.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Innovation and uniqueness of the solution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True Lesion Attribution vs Raw Heatmaps: </a:t>
            </a:r>
            <a:r>
              <a:rPr sz="960" b="0">
                <a:solidFill>
                  <a:srgbClr val="1E293B"/>
                </a:solidFill>
                <a:latin typeface="Calibri"/>
              </a:rPr>
              <a:t>Isolates Optic Disc to prevent false exudates; localizes microaneurysms and hemorrhages explicitly.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100% Offline Edge Operation: </a:t>
            </a:r>
            <a:r>
              <a:rPr sz="960" b="0">
                <a:solidFill>
                  <a:srgbClr val="1E293B"/>
                </a:solidFill>
                <a:latin typeface="Calibri"/>
              </a:rPr>
              <a:t>Full PWA with IndexedDB quota-safe caching—functions seamlessly in zero-connectivity rural clinics.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Interactive 2.0x–3.0x Magnification: </a:t>
            </a:r>
            <a:r>
              <a:rPr sz="960" b="0">
                <a:solidFill>
                  <a:srgbClr val="1E293B"/>
                </a:solidFill>
                <a:latin typeface="Calibri"/>
              </a:rPr>
              <a:t>Frictionless optical zoom viewport enables micro-vascular inspection without distracting reticles.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VisionX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ample_moderate_dr_annota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34440"/>
            <a:ext cx="3886200" cy="3886200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7680960" y="5212080"/>
            <a:ext cx="3886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buNone/>
            </a:pPr>
            <a:r>
              <a:rPr sz="950" b="1">
                <a:solidFill>
                  <a:srgbClr val="1E3A8A"/>
                </a:solidFill>
                <a:latin typeface="Calibri"/>
              </a:rPr>
              <a:t>★ Working AI Prototype Output (Moderate NPDR):</a:t>
            </a:r>
          </a:p>
          <a:p>
            <a:pPr>
              <a:buNone/>
            </a:pPr>
            <a:r>
              <a:rPr sz="850">
                <a:solidFill>
                  <a:srgbClr val="1E293B"/>
                </a:solidFill>
                <a:latin typeface="Calibri"/>
              </a:rPr>
              <a:t>• Optic Disc Isolated (Red Circle) | Prevents False Exudates
• Localized: 7 Microaneurysms, 19 Hard Exudate clusters
• Calibrated Confidence: 94.2% | Referral in 3-6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</a:pPr>
            <a:r>
              <a:rPr sz="2200" b="1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972800" cy="164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1E3A8A"/>
                </a:solidFill>
                <a:latin typeface="Calibri"/>
              </a:rPr>
              <a:t>Technologies to be used (e.g. programming languages, frameworks, hardware)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19" b="1">
                <a:solidFill>
                  <a:srgbClr val="0284C7"/>
                </a:solidFill>
                <a:latin typeface="Calibri"/>
              </a:rPr>
              <a:t>• </a:t>
            </a:r>
            <a:r>
              <a:rPr sz="919" b="1">
                <a:solidFill>
                  <a:srgbClr val="0F172A"/>
                </a:solidFill>
                <a:latin typeface="Calibri"/>
              </a:rPr>
              <a:t>Core Deep Learning: </a:t>
            </a:r>
            <a:r>
              <a:rPr sz="919" b="0">
                <a:solidFill>
                  <a:srgbClr val="1E293B"/>
                </a:solidFill>
                <a:latin typeface="Calibri"/>
              </a:rPr>
              <a:t>PyTorch 2.0, Torchvision, Hugging Face Hub, ResNet-50 backbone (~25M parameters, QWK 0.886 on APTOS).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19" b="1">
                <a:solidFill>
                  <a:srgbClr val="0284C7"/>
                </a:solidFill>
                <a:latin typeface="Calibri"/>
              </a:rPr>
              <a:t>• </a:t>
            </a:r>
            <a:r>
              <a:rPr sz="919" b="1">
                <a:solidFill>
                  <a:srgbClr val="0F172A"/>
                </a:solidFill>
                <a:latin typeface="Calibri"/>
              </a:rPr>
              <a:t>Computer Vision &amp; XAI: </a:t>
            </a:r>
            <a:r>
              <a:rPr sz="919" b="0">
                <a:solidFill>
                  <a:srgbClr val="1E293B"/>
                </a:solidFill>
                <a:latin typeface="Calibri"/>
              </a:rPr>
              <a:t>OpenCV, SciPy, Layer4[-1] Grad-CAM engine, Ben Graham CLAHE contrast normalization, Morphology filters.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19" b="1">
                <a:solidFill>
                  <a:srgbClr val="0284C7"/>
                </a:solidFill>
                <a:latin typeface="Calibri"/>
              </a:rPr>
              <a:t>• </a:t>
            </a:r>
            <a:r>
              <a:rPr sz="919" b="1">
                <a:solidFill>
                  <a:srgbClr val="0F172A"/>
                </a:solidFill>
                <a:latin typeface="Calibri"/>
              </a:rPr>
              <a:t>Backend &amp; Edge Deployment: </a:t>
            </a:r>
            <a:r>
              <a:rPr sz="919" b="0">
                <a:solidFill>
                  <a:srgbClr val="1E293B"/>
                </a:solidFill>
                <a:latin typeface="Calibri"/>
              </a:rPr>
              <a:t>FastAPI (asynchronous REST API), Uvicorn, ONNX Runtime / TFLite export for lightweight mobile runtime.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19" b="1">
                <a:solidFill>
                  <a:srgbClr val="0284C7"/>
                </a:solidFill>
                <a:latin typeface="Calibri"/>
              </a:rPr>
              <a:t>• </a:t>
            </a:r>
            <a:r>
              <a:rPr sz="919" b="1">
                <a:solidFill>
                  <a:srgbClr val="0F172A"/>
                </a:solidFill>
                <a:latin typeface="Calibri"/>
              </a:rPr>
              <a:t>Frontend &amp; Offline PWA: </a:t>
            </a:r>
            <a:r>
              <a:rPr sz="919" b="0">
                <a:solidFill>
                  <a:srgbClr val="1E293B"/>
                </a:solidFill>
                <a:latin typeface="Calibri"/>
              </a:rPr>
              <a:t>React 18, Vite, IndexedDB (quota-safe patient database), HTML5 Canvas 2.0x-3.0x smooth magnification viewport.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19" b="1">
                <a:solidFill>
                  <a:srgbClr val="0284C7"/>
                </a:solidFill>
                <a:latin typeface="Calibri"/>
              </a:rPr>
              <a:t>• </a:t>
            </a:r>
            <a:r>
              <a:rPr sz="919" b="1">
                <a:solidFill>
                  <a:srgbClr val="0F172A"/>
                </a:solidFill>
                <a:latin typeface="Calibri"/>
              </a:rPr>
              <a:t>Target Hardware Specs: </a:t>
            </a:r>
            <a:r>
              <a:rPr sz="919" b="0">
                <a:solidFill>
                  <a:srgbClr val="1E293B"/>
                </a:solidFill>
                <a:latin typeface="Calibri"/>
              </a:rPr>
              <a:t>Standard commodity x86/ARM CPU (4GB RAM minimum), zero GPU dependency, &lt;1.2s inference per image.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1E3A8A"/>
                </a:solidFill>
                <a:latin typeface="Calibri"/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50" b="1">
                <a:solidFill>
                  <a:srgbClr val="1E3A8A"/>
                </a:solidFill>
                <a:latin typeface="Calibri"/>
              </a:rPr>
              <a:t>• End-to-End Clinical Architecture: 6-stage automated screening pipeline with automated quality rejection gate and lesion explainability: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VisionX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926080"/>
            <a:ext cx="10972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</a:pPr>
            <a:r>
              <a:rPr sz="2200" b="1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626364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Tx/>
              <a:tabLst/>
              <a:defRPr/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sz="940" b="0">
                <a:solidFill>
                  <a:srgbClr val="1E293B"/>
                </a:solidFill>
                <a:latin typeface="Calibri"/>
              </a:rPr>
              <a:t>Benchmarked on 733 clinical images (APTOS 2019 split) achieving 0.886 QWK, 80.0% accuracy, 0.808 weighted F1.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sz="940" b="0">
                <a:solidFill>
                  <a:srgbClr val="1E293B"/>
                </a:solidFill>
                <a:latin typeface="Calibri"/>
              </a:rPr>
              <a:t>1.2s inference on low-cost CPUs; works 100% offline in rural sub-centers with zero cellular/Wi-Fi reliance.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Clinical Guidelines Alignment: </a:t>
            </a:r>
            <a:r>
              <a:rPr sz="940" b="0">
                <a:solidFill>
                  <a:srgbClr val="1E293B"/>
                </a:solidFill>
                <a:latin typeface="Calibri"/>
              </a:rPr>
              <a:t>Complies with AAO and ICO international DR referral protocols (Classes 0-1 routine; 2-4 referable).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Commercial Viability: </a:t>
            </a:r>
            <a:r>
              <a:rPr sz="940" b="0">
                <a:solidFill>
                  <a:srgbClr val="1E293B"/>
                </a:solidFill>
                <a:latin typeface="Calibri"/>
              </a:rPr>
              <a:t>Reduces per-screening cost from ₹1,500 in private diagnostics to &lt;₹10; open-source core enables national scale.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Potential challenges and risks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Sub-optimal Rural Captures: </a:t>
            </a:r>
            <a:r>
              <a:rPr sz="940" b="0">
                <a:solidFill>
                  <a:srgbClr val="1E293B"/>
                </a:solidFill>
                <a:latin typeface="Calibri"/>
              </a:rPr>
              <a:t>Handheld camera motion blur, poor pupil dilation, cataracts yielding ungradeable images.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Clinician Skepticism: </a:t>
            </a:r>
            <a:r>
              <a:rPr sz="940" b="0">
                <a:solidFill>
                  <a:srgbClr val="1E293B"/>
                </a:solidFill>
                <a:latin typeface="Calibri"/>
              </a:rPr>
              <a:t>Ophthalmologists hesitant to trust opaque black-box AI predictions without visible evidence.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Connectivity Gaps: </a:t>
            </a:r>
            <a:r>
              <a:rPr sz="940" b="0">
                <a:solidFill>
                  <a:srgbClr val="1E293B"/>
                </a:solidFill>
                <a:latin typeface="Calibri"/>
              </a:rPr>
              <a:t>Power instability and zero internet bandwidth in remote Primary Health Centers (PHCs).</a:t>
            </a:r>
          </a:p>
          <a:p>
            <a:pPr>
              <a:spcBef>
                <a:spcPts val="50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Strategies for overcoming these challenges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Automated 5-Pillar Quality Gate: </a:t>
            </a:r>
            <a:r>
              <a:rPr sz="940" b="0">
                <a:solidFill>
                  <a:srgbClr val="1E293B"/>
                </a:solidFill>
                <a:latin typeface="Calibri"/>
              </a:rPr>
              <a:t>Rejects corrupted scans with plain-text ASHA recapture diopter/lighting guidance.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Visual Lesion Attribution: </a:t>
            </a:r>
            <a:r>
              <a:rPr sz="940" b="0">
                <a:solidFill>
                  <a:srgbClr val="1E293B"/>
                </a:solidFill>
                <a:latin typeface="Calibri"/>
              </a:rPr>
              <a:t>Directly marks microaneurysms and hard exudates; gives dual patient + medical terms.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Offline PWA &amp; Local Caching: </a:t>
            </a:r>
            <a:r>
              <a:rPr sz="940" b="0">
                <a:solidFill>
                  <a:srgbClr val="1E293B"/>
                </a:solidFill>
                <a:latin typeface="Calibri"/>
              </a:rPr>
              <a:t>IndexedDB stores 500+ records offline with auto-sync whenever internet is restored.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40" b="1">
                <a:solidFill>
                  <a:srgbClr val="0284C7"/>
                </a:solidFill>
                <a:latin typeface="Calibri"/>
              </a:rPr>
              <a:t>• </a:t>
            </a:r>
            <a:r>
              <a:rPr sz="940" b="1">
                <a:solidFill>
                  <a:srgbClr val="0F172A"/>
                </a:solidFill>
                <a:latin typeface="Calibri"/>
              </a:rPr>
              <a:t>Zero False-Negative Protocol: </a:t>
            </a:r>
            <a:r>
              <a:rPr sz="940" b="0">
                <a:solidFill>
                  <a:srgbClr val="1E293B"/>
                </a:solidFill>
                <a:latin typeface="Calibri"/>
              </a:rPr>
              <a:t>Achieves 100% sensitivity on Severe &amp; Proliferative DR; ensures zero sight-threatening cases missed.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VisionX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7086600" y="1188720"/>
            <a:ext cx="4480560" cy="2057400"/>
          </a:xfrm>
          <a:prstGeom prst="roundRect">
            <a:avLst/>
          </a:prstGeom>
          <a:solidFill>
            <a:srgbClr val="0B132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</a:pPr>
            <a:r>
              <a:rPr sz="1000" b="1">
                <a:solidFill>
                  <a:srgbClr val="38BDF8"/>
                </a:solidFill>
                <a:latin typeface="Calibri"/>
              </a:rPr>
              <a:t>CLINICAL VALIDATION BENCHMARKS (APTOS 2019)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Quadratic Weighted Kappa (QWK): </a:t>
            </a:r>
            <a:r>
              <a:rPr sz="900" b="1">
                <a:solidFill>
                  <a:srgbClr val="34D399"/>
                </a:solidFill>
                <a:latin typeface="Calibri"/>
              </a:rPr>
              <a:t>0.8855 </a:t>
            </a:r>
            <a:r>
              <a:rPr sz="800">
                <a:solidFill>
                  <a:srgbClr val="64748B"/>
                </a:solidFill>
                <a:latin typeface="Calibri"/>
              </a:rPr>
              <a:t>(Clinical agreement (&gt;0.85 = Excellent))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Exact 5-Class Accuracy: </a:t>
            </a:r>
            <a:r>
              <a:rPr sz="900" b="1">
                <a:solidFill>
                  <a:srgbClr val="FFFFFF"/>
                </a:solidFill>
                <a:latin typeface="Calibri"/>
              </a:rPr>
              <a:t>79.95% </a:t>
            </a:r>
            <a:r>
              <a:rPr sz="800">
                <a:solidFill>
                  <a:srgbClr val="64748B"/>
                </a:solidFill>
                <a:latin typeface="Calibri"/>
              </a:rPr>
              <a:t>(Exact match across 5 DR grades)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Weighted F1-Score: </a:t>
            </a:r>
            <a:r>
              <a:rPr sz="900" b="1">
                <a:solidFill>
                  <a:srgbClr val="FFFFFF"/>
                </a:solidFill>
                <a:latin typeface="Calibri"/>
              </a:rPr>
              <a:t>0.8080 </a:t>
            </a:r>
            <a:r>
              <a:rPr sz="800">
                <a:solidFill>
                  <a:srgbClr val="64748B"/>
                </a:solidFill>
                <a:latin typeface="Calibri"/>
              </a:rPr>
              <a:t>(Class-imbalance adjusted harmonic mean)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Severe &amp; Proliferative Sensitivity: </a:t>
            </a:r>
            <a:r>
              <a:rPr sz="900" b="1">
                <a:solidFill>
                  <a:srgbClr val="34D399"/>
                </a:solidFill>
                <a:latin typeface="Calibri"/>
              </a:rPr>
              <a:t>100.0% </a:t>
            </a:r>
            <a:r>
              <a:rPr sz="800">
                <a:solidFill>
                  <a:srgbClr val="64748B"/>
                </a:solidFill>
                <a:latin typeface="Calibri"/>
              </a:rPr>
              <a:t>(0 out of 98 sight-threatening cases missed)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Healthy Retina Precision: </a:t>
            </a:r>
            <a:r>
              <a:rPr sz="900" b="1">
                <a:solidFill>
                  <a:srgbClr val="34D399"/>
                </a:solidFill>
                <a:latin typeface="Calibri"/>
              </a:rPr>
              <a:t>98.0% </a:t>
            </a:r>
            <a:r>
              <a:rPr sz="800">
                <a:solidFill>
                  <a:srgbClr val="64748B"/>
                </a:solidFill>
                <a:latin typeface="Calibri"/>
              </a:rPr>
              <a:t>(Prevents unnecessary hospital overcrowding)</a:t>
            </a:r>
          </a:p>
          <a:p>
            <a:pPr>
              <a:spcAft>
                <a:spcPts val="100"/>
              </a:spcAft>
              <a:buNone/>
            </a:pPr>
            <a:r>
              <a:rPr sz="850">
                <a:solidFill>
                  <a:srgbClr val="94A3B8"/>
                </a:solidFill>
                <a:latin typeface="Calibri"/>
              </a:rPr>
              <a:t>• Inference Speed (CPU Only): </a:t>
            </a:r>
            <a:r>
              <a:rPr sz="900" b="1">
                <a:solidFill>
                  <a:srgbClr val="FFFFFF"/>
                </a:solidFill>
                <a:latin typeface="Calibri"/>
              </a:rPr>
              <a:t>1.2s </a:t>
            </a:r>
            <a:r>
              <a:rPr sz="800">
                <a:solidFill>
                  <a:srgbClr val="64748B"/>
                </a:solidFill>
                <a:latin typeface="Calibri"/>
              </a:rPr>
              <a:t>(Real-time edge triage without GPU)</a:t>
            </a:r>
          </a:p>
        </p:txBody>
      </p:sp>
      <p:pic>
        <p:nvPicPr>
          <p:cNvPr id="17412" name="Picture 17411" descr="confusion_matrix_and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337560"/>
            <a:ext cx="448056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</a:pPr>
            <a:r>
              <a:rPr sz="2200" b="1">
                <a:solidFill>
                  <a:srgbClr val="0F172A"/>
                </a:solidFill>
                <a:latin typeface="Calibri"/>
              </a:rPr>
              <a:t>IMPACT AND BENEFITS: TRANSFORMING RURAL EYECARE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534924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Tx/>
              <a:tabLst/>
              <a:defRPr/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Potential impact on the target audience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77M+ Rural Diabetic Citizens: </a:t>
            </a:r>
            <a:r>
              <a:rPr sz="960" b="0">
                <a:solidFill>
                  <a:srgbClr val="1E293B"/>
                </a:solidFill>
                <a:latin typeface="Calibri"/>
              </a:rPr>
              <a:t>Enables early screening before irreversible vision loss occurs; 90% of blindness is preventable if caught early.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Grassroots Healthcare Workers (ASHA / ANM): </a:t>
            </a:r>
            <a:r>
              <a:rPr sz="960" b="0">
                <a:solidFill>
                  <a:srgbClr val="1E293B"/>
                </a:solidFill>
                <a:latin typeface="Calibri"/>
              </a:rPr>
              <a:t>Converts frontline community workers into confident screening specialists via guided quality prompts and plain-language triage.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Secondary &amp; Tertiary Eye Hospitals: </a:t>
            </a:r>
            <a:r>
              <a:rPr sz="960" b="0">
                <a:solidFill>
                  <a:srgbClr val="1E293B"/>
                </a:solidFill>
                <a:latin typeface="Calibri"/>
              </a:rPr>
              <a:t>Filters out ~75% healthy/routine cases; relieves doctor burnout and reserves surgical theaters for proliferative cases.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District Health Administrations: </a:t>
            </a:r>
            <a:r>
              <a:rPr sz="960" b="0">
                <a:solidFill>
                  <a:srgbClr val="1E293B"/>
                </a:solidFill>
                <a:latin typeface="Calibri"/>
              </a:rPr>
              <a:t>Produces anonymized, geo-tagged screening data to identify rural diabetes prevalence clusters for targeted interventions.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VisionX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217920" y="118872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Benefits of the solution (social, economic, environmental, etc.)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Social &amp; Healthcare Equity: </a:t>
            </a:r>
            <a:r>
              <a:rPr sz="960" b="0">
                <a:solidFill>
                  <a:srgbClr val="1E293B"/>
                </a:solidFill>
                <a:latin typeface="Calibri"/>
              </a:rPr>
              <a:t>Brings tertiary-grade ophthalmology diagnostics to the last mile, bridging the rural-urban divide (Ayushman Bharat aligned).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Drastic Economic Cost Reduction: </a:t>
            </a:r>
            <a:r>
              <a:rPr sz="960" b="0">
                <a:solidFill>
                  <a:srgbClr val="1E293B"/>
                </a:solidFill>
                <a:latin typeface="Calibri"/>
              </a:rPr>
              <a:t>Slashes diagnostic cost by &gt;99% (₹1,500 at private hospital to &lt;₹10 per scan); averts crores in lost wages and disability care.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Clinical Efficacy &amp; Same-Day Triage: </a:t>
            </a:r>
            <a:r>
              <a:rPr sz="960" b="0">
                <a:solidFill>
                  <a:srgbClr val="1E293B"/>
                </a:solidFill>
                <a:latin typeface="Calibri"/>
              </a:rPr>
              <a:t>1.2s rapid execution enables same-day counseling and automated bilingual PDF referral reports.</a:t>
            </a:r>
          </a:p>
          <a:p>
            <a:pPr>
              <a:spcBef>
                <a:spcPts val="0"/>
              </a:spcBef>
              <a:spcAft>
                <a:spcPts val="150"/>
              </a:spcAft>
              <a:buNone/>
            </a:pPr>
            <a:r>
              <a:rPr sz="960" b="1">
                <a:solidFill>
                  <a:srgbClr val="0284C7"/>
                </a:solidFill>
                <a:latin typeface="Calibri"/>
              </a:rPr>
              <a:t>• </a:t>
            </a:r>
            <a:r>
              <a:rPr sz="960" b="1">
                <a:solidFill>
                  <a:srgbClr val="0F172A"/>
                </a:solidFill>
                <a:latin typeface="Calibri"/>
              </a:rPr>
              <a:t>Environmental &amp; Infrastructure Sustainability: </a:t>
            </a:r>
            <a:r>
              <a:rPr sz="960" b="0">
                <a:solidFill>
                  <a:srgbClr val="1E293B"/>
                </a:solidFill>
                <a:latin typeface="Calibri"/>
              </a:rPr>
              <a:t>Zero server carbon footprint; runs on existing low-spec government computers without requiring hardware upgrades.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4709160"/>
            <a:ext cx="25603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1E3A8A"/>
                </a:solidFill>
                <a:latin typeface="Calibri"/>
              </a:rPr>
              <a:t>&gt;99%</a:t>
            </a:r>
          </a:p>
          <a:p>
            <a:pPr algn="ctr">
              <a:spcAft>
                <a:spcPts val="10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Direct Cost Reduction</a:t>
            </a:r>
          </a:p>
          <a:p>
            <a:pPr algn="ctr">
              <a:buNone/>
            </a:pPr>
            <a:r>
              <a:rPr sz="850">
                <a:solidFill>
                  <a:srgbClr val="475569"/>
                </a:solidFill>
                <a:latin typeface="Calibri"/>
              </a:rPr>
              <a:t>From ₹1,500 to &lt;₹10/scan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410712" y="4709160"/>
            <a:ext cx="25603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0284C7"/>
                </a:solidFill>
                <a:latin typeface="Calibri"/>
              </a:rPr>
              <a:t>1.2s</a:t>
            </a:r>
          </a:p>
          <a:p>
            <a:pPr algn="ctr">
              <a:spcAft>
                <a:spcPts val="10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Rapid Edge Triage</a:t>
            </a:r>
          </a:p>
          <a:p>
            <a:pPr algn="ctr">
              <a:buNone/>
            </a:pPr>
            <a:r>
              <a:rPr sz="850">
                <a:solidFill>
                  <a:srgbClr val="475569"/>
                </a:solidFill>
                <a:latin typeface="Calibri"/>
              </a:rPr>
              <a:t>Zero GPU dependency on CPU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08776" y="4709160"/>
            <a:ext cx="25603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059669"/>
                </a:solidFill>
                <a:latin typeface="Calibri"/>
              </a:rPr>
              <a:t>90%</a:t>
            </a:r>
          </a:p>
          <a:p>
            <a:pPr algn="ctr">
              <a:spcAft>
                <a:spcPts val="10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Blindness Preventable</a:t>
            </a:r>
          </a:p>
          <a:p>
            <a:pPr algn="ctr">
              <a:buNone/>
            </a:pPr>
            <a:r>
              <a:rPr sz="850">
                <a:solidFill>
                  <a:srgbClr val="475569"/>
                </a:solidFill>
                <a:latin typeface="Calibri"/>
              </a:rPr>
              <a:t>Halts DR before permanent loss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006840" y="4709160"/>
            <a:ext cx="25603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100"/>
              </a:spcAft>
              <a:buNone/>
            </a:pPr>
            <a:r>
              <a:rPr sz="2200" b="1">
                <a:solidFill>
                  <a:srgbClr val="7C3AED"/>
                </a:solidFill>
                <a:latin typeface="Calibri"/>
              </a:rPr>
              <a:t>150k+</a:t>
            </a:r>
          </a:p>
          <a:p>
            <a:pPr algn="ctr">
              <a:spcAft>
                <a:spcPts val="10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Ayushman Bharat HWCs</a:t>
            </a:r>
          </a:p>
          <a:p>
            <a:pPr algn="ctr">
              <a:buNone/>
            </a:pPr>
            <a:r>
              <a:rPr sz="850">
                <a:solidFill>
                  <a:srgbClr val="475569"/>
                </a:solidFill>
                <a:latin typeface="Calibri"/>
              </a:rPr>
              <a:t>National deployment ready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</a:pPr>
            <a:r>
              <a:rPr sz="2200" b="1">
                <a:solidFill>
                  <a:srgbClr val="0F172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Tx/>
              <a:tabLst/>
              <a:defRPr/>
              <a:buNone/>
            </a:pPr>
            <a:r>
              <a:rPr sz="1250" b="1">
                <a:solidFill>
                  <a:srgbClr val="1E3A8A"/>
                </a:solidFill>
                <a:latin typeface="Calibri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E3A8A"/>
          </a:solidFill>
          <a:ln w="19050">
            <a:solidFill>
              <a:srgbClr val="0284C7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VisionX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1645920"/>
            <a:ext cx="53492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1E3A8A"/>
                </a:solidFill>
                <a:latin typeface="Calibri"/>
              </a:rPr>
              <a:t>1. Clinical Datasets &amp; Real-World Validation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APTOS 2019 Blindness Detection: </a:t>
            </a:r>
            <a:r>
              <a:rPr sz="900">
                <a:solidFill>
                  <a:srgbClr val="1E293B"/>
                </a:solidFill>
                <a:latin typeface="Calibri"/>
              </a:rPr>
              <a:t>Aravind Eye Hospital, Tamil Nadu, India (3,662 expert-annotated fundus images across 5 grades).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Messidor-2 &amp; IDRiD Benchmarks: </a:t>
            </a:r>
            <a:r>
              <a:rPr sz="900">
                <a:solidFill>
                  <a:srgbClr val="1E293B"/>
                </a:solidFill>
                <a:latin typeface="Calibri"/>
              </a:rPr>
              <a:t>International benchmark datasets used to validate micro-lesion segmentation and grading robustness.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Indian Population Alignment: </a:t>
            </a:r>
            <a:r>
              <a:rPr sz="900">
                <a:solidFill>
                  <a:srgbClr val="1E293B"/>
                </a:solidFill>
                <a:latin typeface="Calibri"/>
              </a:rPr>
              <a:t>Trained specifically on clinical presentations mirroring Indian demographic ocular pigmentation.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17920" y="1645920"/>
            <a:ext cx="53492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1E3A8A"/>
                </a:solidFill>
                <a:latin typeface="Calibri"/>
              </a:rPr>
              <a:t>2. Foundational Deep Learning &amp; Computer Vision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He, K., Zhang, X., Ren, S., &amp; Sun, J. (2016): </a:t>
            </a:r>
            <a:r>
              <a:rPr sz="900">
                <a:solidFill>
                  <a:srgbClr val="1E293B"/>
                </a:solidFill>
                <a:latin typeface="Calibri"/>
              </a:rPr>
              <a:t>'Deep Residual Learning for Image Recognition.' IEEE CVPR (Foundational ResNet-50 backbone).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Selvaraju, R. R., et al. (2017): </a:t>
            </a:r>
            <a:r>
              <a:rPr sz="900">
                <a:solidFill>
                  <a:srgbClr val="1E293B"/>
                </a:solidFill>
                <a:latin typeface="Calibri"/>
              </a:rPr>
              <a:t>'Grad-CAM: Visual Explanations from Deep Networks via Gradient-based Localization.' IEEE ICCV.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Graham, Ben (2015): </a:t>
            </a:r>
            <a:r>
              <a:rPr sz="900">
                <a:solidFill>
                  <a:srgbClr val="1E293B"/>
                </a:solidFill>
                <a:latin typeface="Calibri"/>
              </a:rPr>
              <a:t>'Kaggle DR Detection Winner's Report' (Local contrast normalization, Gaussian subtraction &amp; circular crop).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" y="3977639"/>
            <a:ext cx="53492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1E3A8A"/>
                </a:solidFill>
                <a:latin typeface="Calibri"/>
              </a:rPr>
              <a:t>3. International Clinical Practice Guidelines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American Academy of Ophthalmology (AAO): </a:t>
            </a:r>
            <a:r>
              <a:rPr sz="900">
                <a:solidFill>
                  <a:srgbClr val="1E293B"/>
                </a:solidFill>
                <a:latin typeface="Calibri"/>
              </a:rPr>
              <a:t>Preferred Practice Pattern: Diabetic Retinopathy (2019/2023 update). Referral guidelines: QWK &gt; 0.85.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International Council of Ophthalmology (ICO): </a:t>
            </a:r>
            <a:r>
              <a:rPr sz="900">
                <a:solidFill>
                  <a:srgbClr val="1E293B"/>
                </a:solidFill>
                <a:latin typeface="Calibri"/>
              </a:rPr>
              <a:t>Guidelines for Diabetic Eye Care (2017). Defined screening intervals: annual vs urgent 2-4 week referral.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ETDRS Research Group (Report No. 10): </a:t>
            </a:r>
            <a:r>
              <a:rPr sz="900">
                <a:solidFill>
                  <a:srgbClr val="1E293B"/>
                </a:solidFill>
                <a:latin typeface="Calibri"/>
              </a:rPr>
              <a:t>Standard classification of diabetic retinopathy from stereoscopic color fundus photographs.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0" y="3977639"/>
            <a:ext cx="534924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</a:pPr>
            <a:r>
              <a:rPr sz="1100" b="1">
                <a:solidFill>
                  <a:srgbClr val="1E3A8A"/>
                </a:solidFill>
                <a:latin typeface="Calibri"/>
              </a:rPr>
              <a:t>4. Prototype Implementation &amp; Open Source Repository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GitHub Code Repository: </a:t>
            </a:r>
            <a:r>
              <a:rPr sz="900">
                <a:solidFill>
                  <a:srgbClr val="1E293B"/>
                </a:solidFill>
                <a:latin typeface="Calibri"/>
              </a:rPr>
              <a:t>https://github.com/Boobathi-V/SIH_2026.git (Complete open-source production codebase).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Modular AI &amp; Clinical Engine: </a:t>
            </a:r>
            <a:r>
              <a:rPr sz="900">
                <a:solidFill>
                  <a:srgbClr val="1E293B"/>
                </a:solidFill>
                <a:latin typeface="Calibri"/>
              </a:rPr>
              <a:t>ResNet-50 PyTorch model, 5-pillar quality gate, Grad-CAM lesion explainability, FastAPI backend.</a:t>
            </a:r>
          </a:p>
          <a:p>
            <a:pPr>
              <a:spcBef>
                <a:spcPts val="1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0284C7"/>
                </a:solidFill>
                <a:latin typeface="Calibri"/>
              </a:rPr>
              <a:t>• </a:t>
            </a:r>
            <a:r>
              <a:rPr sz="900" b="1">
                <a:solidFill>
                  <a:srgbClr val="0F172A"/>
                </a:solidFill>
                <a:latin typeface="Calibri"/>
              </a:rPr>
              <a:t>Offline Edge PWA &amp; Mobile Export: </a:t>
            </a:r>
            <a:r>
              <a:rPr sz="900">
                <a:solidFill>
                  <a:srgbClr val="1E293B"/>
                </a:solidFill>
                <a:latin typeface="Calibri"/>
              </a:rPr>
              <a:t>React 18 PWA with IndexedDB quota-safe storage; exportable to ONNX Runtime and TFLite for edge devices.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