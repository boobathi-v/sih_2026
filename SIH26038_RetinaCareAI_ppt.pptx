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5"/>
  </p:notesMasterIdLst>
  <p:sldIdLst>
    <p:sldId id="291" r:id="rId3"/>
    <p:sldId id="281" r:id="rId4"/>
    <p:sldId id="290" r:id="rId6"/>
    <p:sldId id="293" r:id="rId7"/>
    <p:sldId id="294" r:id="rId8"/>
    <p:sldId id="296" r:id="rId9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39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78" d="100"/>
          <a:sy n="78" d="100"/>
        </p:scale>
        <p:origin x="850" y="77"/>
      </p:cViewPr>
      <p:guideLst>
        <p:guide orient="horz" pos="2131"/>
        <p:guide pos="392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MS PGothic" panose="020B0600070205080204" pitchFamily="1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CA7B74D-3791-4AC6-8451-F10DBCCCDD9A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24000" y="1778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r="59916"/>
          <a:stretch>
            <a:fillRect/>
          </a:stretch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7505" y="1812925"/>
            <a:ext cx="9703435" cy="33572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dirty="0"/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-SIH26038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Explainable AI for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457200" algn="just">
              <a:lnSpc>
                <a:spcPct val="115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DiabeticRetinopathy Screening in Rural India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 - MedTech / Clean and green technology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 - P62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visionX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10055" y="386080"/>
            <a:ext cx="7865745" cy="895350"/>
          </a:xfrm>
        </p:spPr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RetinaCare AI – Explainable Diabetic Retinopathy Screening for Rural India</a:t>
            </a:r>
            <a:br>
              <a:rPr lang="en-US" sz="40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</a:br>
            <a:endParaRPr lang="en-US" sz="40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/>
          <p:cNvSpPr/>
          <p:nvPr/>
        </p:nvSpPr>
        <p:spPr>
          <a:xfrm>
            <a:off x="162064" y="252246"/>
            <a:ext cx="1548188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visionX</a:t>
            </a:r>
            <a:endParaRPr lang="en-IN" sz="2400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256032" y="1060704"/>
            <a:ext cx="1143000" cy="338328"/>
          </a:xfrm>
          <a:prstGeom prst="roundRect">
            <a:avLst/>
          </a:prstGeom>
          <a:solidFill>
            <a:srgbClr val="080808"/>
          </a:solidFill>
          <a:ln w="12700">
            <a:solidFill>
              <a:srgbClr val="080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" y="1069848"/>
            <a:ext cx="996696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 Narrow" panose="020B0606020202030204"/>
              </a:rPr>
              <a:t>SOLUTION</a:t>
            </a:r>
            <a:endParaRPr sz="1300" b="1" i="0">
              <a:solidFill>
                <a:srgbClr val="FFFFFF"/>
              </a:solidFill>
              <a:latin typeface="Arial Narrow" panose="020B0606020202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0040" y="1481328"/>
            <a:ext cx="5715000" cy="56692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080808"/>
                </a:solidFill>
                <a:latin typeface="Arial" panose="020B0604020202020204"/>
              </a:rPr>
              <a:t>VisionX is an offline, edge-first CDSS that brings explainable DR screening to rural PHCs — without cloud GPUs or continuous internet.</a:t>
            </a:r>
            <a:endParaRPr sz="1400" b="0" i="0">
              <a:solidFill>
                <a:srgbClr val="080808"/>
              </a:solidFill>
              <a:latin typeface="Arial" panose="020B060402020202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92608" y="2148840"/>
            <a:ext cx="5897880" cy="713232"/>
          </a:xfrm>
          <a:prstGeom prst="roundRect">
            <a:avLst/>
          </a:prstGeom>
          <a:solidFill>
            <a:srgbClr val="E1F2FC"/>
          </a:solidFill>
          <a:ln w="12700">
            <a:solidFill>
              <a:srgbClr val="E1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2240280"/>
            <a:ext cx="41148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0067B4"/>
                </a:solidFill>
                <a:latin typeface="Arial Narrow" panose="020B0606020202030204"/>
              </a:rPr>
              <a:t>01</a:t>
            </a:r>
            <a:endParaRPr sz="1300" b="1" i="0">
              <a:solidFill>
                <a:srgbClr val="0067B4"/>
              </a:solidFill>
              <a:latin typeface="Arial Narrow" panose="020B0606020202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32688" y="2212848"/>
            <a:ext cx="205740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080808"/>
                </a:solidFill>
                <a:latin typeface="Arial Narrow" panose="020B0606020202030204"/>
              </a:rPr>
              <a:t>5-PILLAR QUALITY GATE</a:t>
            </a:r>
            <a:endParaRPr sz="1300" b="1" i="0">
              <a:solidFill>
                <a:srgbClr val="080808"/>
              </a:solidFill>
              <a:latin typeface="Arial Narrow" panose="020B0606020202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32815" y="2494788"/>
            <a:ext cx="3154680" cy="521207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30" b="0" i="0">
                <a:solidFill>
                  <a:srgbClr val="080808"/>
                </a:solidFill>
                <a:latin typeface="Arial" panose="020B0604020202020204"/>
              </a:rPr>
              <a:t>Rejects blur, bad exposure, low coverage and non-retinal images before AI inference.</a:t>
            </a:r>
            <a:endParaRPr sz="1030" b="0" i="0">
              <a:solidFill>
                <a:srgbClr val="080808"/>
              </a:solidFill>
              <a:latin typeface="Arial" panose="020B060402020202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92608" y="3017520"/>
            <a:ext cx="5897880" cy="713232"/>
          </a:xfrm>
          <a:prstGeom prst="roundRect">
            <a:avLst/>
          </a:prstGeom>
          <a:solidFill>
            <a:srgbClr val="E0F6E2"/>
          </a:solidFill>
          <a:ln w="12700">
            <a:solidFill>
              <a:srgbClr val="E0F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3108960"/>
            <a:ext cx="41148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238C56"/>
                </a:solidFill>
                <a:latin typeface="Arial Narrow" panose="020B0606020202030204"/>
              </a:rPr>
              <a:t>02</a:t>
            </a:r>
            <a:endParaRPr sz="1300" b="1" i="0">
              <a:solidFill>
                <a:srgbClr val="238C56"/>
              </a:solidFill>
              <a:latin typeface="Arial Narrow" panose="020B0606020202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32688" y="3081527"/>
            <a:ext cx="205740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080808"/>
                </a:solidFill>
                <a:latin typeface="Arial Narrow" panose="020B0606020202030204"/>
              </a:rPr>
              <a:t>1.2s EDGE INFERENCE</a:t>
            </a:r>
            <a:endParaRPr sz="1300" b="1" i="0">
              <a:solidFill>
                <a:srgbClr val="080808"/>
              </a:solidFill>
              <a:latin typeface="Arial Narrow" panose="020B0606020202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32815" y="3364737"/>
            <a:ext cx="3154680" cy="521207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30" b="0" i="0">
                <a:solidFill>
                  <a:srgbClr val="080808"/>
                </a:solidFill>
                <a:latin typeface="Arial" panose="020B0604020202020204"/>
              </a:rPr>
              <a:t>ResNet-50 grades 5 DR severity classes on standard CPU hardware.</a:t>
            </a:r>
            <a:endParaRPr sz="1030" b="0" i="0">
              <a:solidFill>
                <a:srgbClr val="080808"/>
              </a:solidFill>
              <a:latin typeface="Arial" panose="020B060402020202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292608" y="3886200"/>
            <a:ext cx="5897880" cy="713232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FF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3977639"/>
            <a:ext cx="41148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F49A31"/>
                </a:solidFill>
                <a:latin typeface="Arial Narrow" panose="020B0606020202030204"/>
              </a:rPr>
              <a:t>03</a:t>
            </a:r>
            <a:endParaRPr sz="1300" b="1" i="0">
              <a:solidFill>
                <a:srgbClr val="F49A31"/>
              </a:solidFill>
              <a:latin typeface="Arial Narrow" panose="020B0606020202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32688" y="3950208"/>
            <a:ext cx="205740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080808"/>
                </a:solidFill>
                <a:latin typeface="Arial Narrow" panose="020B0606020202030204"/>
              </a:rPr>
              <a:t>LESION-LEVEL XAI</a:t>
            </a:r>
            <a:endParaRPr sz="1300" b="1" i="0">
              <a:solidFill>
                <a:srgbClr val="080808"/>
              </a:solidFill>
              <a:latin typeface="Arial Narrow" panose="020B0606020202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32815" y="4233418"/>
            <a:ext cx="3154680" cy="521207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30" b="0" i="0">
                <a:solidFill>
                  <a:srgbClr val="080808"/>
                </a:solidFill>
                <a:latin typeface="Arial" panose="020B0604020202020204"/>
              </a:rPr>
              <a:t>Grad-CAM + optic-disc isolation + lesion localization shows the visual evidence.</a:t>
            </a:r>
            <a:endParaRPr sz="1030" b="0" i="0">
              <a:solidFill>
                <a:srgbClr val="080808"/>
              </a:solidFill>
              <a:latin typeface="Arial" panose="020B060402020202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292608" y="4754880"/>
            <a:ext cx="5897880" cy="713232"/>
          </a:xfrm>
          <a:prstGeom prst="roundRect">
            <a:avLst/>
          </a:prstGeom>
          <a:solidFill>
            <a:srgbClr val="FBEBF1"/>
          </a:solidFill>
          <a:ln w="12700">
            <a:solidFill>
              <a:srgbClr val="FB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4846320"/>
            <a:ext cx="41148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BE3C37"/>
                </a:solidFill>
                <a:latin typeface="Arial Narrow" panose="020B0606020202030204"/>
              </a:rPr>
              <a:t>04</a:t>
            </a:r>
            <a:endParaRPr sz="1300" b="1" i="0">
              <a:solidFill>
                <a:srgbClr val="BE3C37"/>
              </a:solidFill>
              <a:latin typeface="Arial Narrow" panose="020B0606020202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32688" y="4818888"/>
            <a:ext cx="205740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080808"/>
                </a:solidFill>
                <a:latin typeface="Arial Narrow" panose="020B0606020202030204"/>
              </a:rPr>
              <a:t>CLINICAL SAFETY</a:t>
            </a:r>
            <a:endParaRPr sz="1300" b="1" i="0">
              <a:solidFill>
                <a:srgbClr val="080808"/>
              </a:solidFill>
              <a:latin typeface="Arial Narrow" panose="020B0606020202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88670" y="5074793"/>
            <a:ext cx="3154680" cy="521207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30" b="0" i="0">
                <a:solidFill>
                  <a:srgbClr val="080808"/>
                </a:solidFill>
                <a:latin typeface="Arial" panose="020B0604020202020204"/>
              </a:rPr>
              <a:t>Calibration preserves severe/PDR predictions to protect against critical misses.</a:t>
            </a:r>
            <a:endParaRPr sz="1030" b="0" i="0">
              <a:solidFill>
                <a:srgbClr val="080808"/>
              </a:solidFill>
              <a:latin typeface="Arial" panose="020B0604020202020204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537960" y="1060704"/>
            <a:ext cx="1234440" cy="338328"/>
          </a:xfrm>
          <a:prstGeom prst="roundRect">
            <a:avLst/>
          </a:prstGeom>
          <a:solidFill>
            <a:srgbClr val="080808"/>
          </a:solidFill>
          <a:ln w="12700">
            <a:solidFill>
              <a:srgbClr val="080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11112" y="1069848"/>
            <a:ext cx="1088136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 Narrow" panose="020B0606020202030204"/>
              </a:rPr>
              <a:t>PROTOTYPE</a:t>
            </a:r>
            <a:endParaRPr sz="1300" b="1" i="0">
              <a:solidFill>
                <a:srgbClr val="FFFFFF"/>
              </a:solidFill>
              <a:latin typeface="Arial Narrow" panose="020B0606020202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656832" y="4279392"/>
            <a:ext cx="1874519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850" b="1" i="0">
                <a:solidFill>
                  <a:srgbClr val="0067B4"/>
                </a:solidFill>
                <a:latin typeface="Arial" panose="020B0604020202020204"/>
              </a:rPr>
              <a:t>Grad-CAM + lesion callouts</a:t>
            </a:r>
            <a:endParaRPr sz="850" b="1" i="0">
              <a:solidFill>
                <a:srgbClr val="0067B4"/>
              </a:solidFill>
              <a:latin typeface="Arial" panose="020B0604020202020204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133539" y="5920486"/>
            <a:ext cx="183515" cy="2565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 Narrow" panose="020B0606020202030204"/>
              </a:rPr>
              <a:t> ?</a:t>
            </a:r>
            <a:endParaRPr sz="1200" b="1" i="0">
              <a:solidFill>
                <a:srgbClr val="FFFFFF"/>
              </a:solidFill>
              <a:latin typeface="Arial Narrow" panose="020B0606020202030204"/>
            </a:endParaRPr>
          </a:p>
        </p:txBody>
      </p:sp>
      <p:pic>
        <p:nvPicPr>
          <p:cNvPr id="15363" name="Picture 15362" descr="sample_moderate_dr_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331720"/>
            <a:ext cx="1874520" cy="1874520"/>
          </a:xfrm>
          <a:prstGeom prst="rect">
            <a:avLst/>
          </a:prstGeom>
        </p:spPr>
      </p:pic>
      <p:pic>
        <p:nvPicPr>
          <p:cNvPr id="17412" name="Picture 17411" descr="confusion_matrix_and_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6905" y="2331720"/>
            <a:ext cx="3910965" cy="25139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44129" y="-18128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TECHNICAL APPROACH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/>
          <p:cNvSpPr/>
          <p:nvPr/>
        </p:nvSpPr>
        <p:spPr>
          <a:xfrm>
            <a:off x="450000" y="167819"/>
            <a:ext cx="165410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visionX</a:t>
            </a:r>
            <a:endParaRPr lang="en-IN" sz="2400" b="1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1000" y="1500"/>
            <a:ext cx="2548936" cy="106233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01168" y="1005840"/>
            <a:ext cx="7635240" cy="5321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0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438912" y="5358384"/>
            <a:ext cx="1170432" cy="310896"/>
          </a:xfrm>
          <a:prstGeom prst="roundRect">
            <a:avLst/>
          </a:prstGeom>
          <a:solidFill>
            <a:srgbClr val="080808"/>
          </a:solidFill>
          <a:ln w="12700">
            <a:solidFill>
              <a:srgbClr val="080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43"/>
          <p:cNvSpPr txBox="1"/>
          <p:nvPr/>
        </p:nvSpPr>
        <p:spPr>
          <a:xfrm>
            <a:off x="512063" y="5367528"/>
            <a:ext cx="1024128" cy="29260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 Narrow" panose="020B0606020202030204"/>
              </a:rPr>
              <a:t>CORE STACK</a:t>
            </a:r>
            <a:endParaRPr sz="1100" b="1" i="0">
              <a:solidFill>
                <a:srgbClr val="FFFFFF"/>
              </a:solidFill>
              <a:latin typeface="Arial Narrow" panose="020B0606020202030204"/>
            </a:endParaRPr>
          </a:p>
        </p:txBody>
      </p:sp>
      <p:sp>
        <p:nvSpPr>
          <p:cNvPr id="111" name="Rounded Rectangle 110"/>
          <p:cNvSpPr/>
          <p:nvPr/>
        </p:nvSpPr>
        <p:spPr>
          <a:xfrm>
            <a:off x="475488" y="5733288"/>
            <a:ext cx="1261872" cy="384048"/>
          </a:xfrm>
          <a:prstGeom prst="roundRect">
            <a:avLst/>
          </a:prstGeom>
          <a:solidFill>
            <a:srgbClr val="E1F2FC"/>
          </a:solidFill>
          <a:ln w="12700">
            <a:solidFill>
              <a:srgbClr val="E1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45"/>
          <p:cNvSpPr txBox="1"/>
          <p:nvPr/>
        </p:nvSpPr>
        <p:spPr>
          <a:xfrm>
            <a:off x="521208" y="5769864"/>
            <a:ext cx="1170432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850" b="1" i="0">
                <a:solidFill>
                  <a:srgbClr val="080808"/>
                </a:solidFill>
                <a:latin typeface="Arial Narrow" panose="020B0606020202030204"/>
              </a:rPr>
              <a:t>PyTorch</a:t>
            </a:r>
            <a:endParaRPr sz="850" b="1" i="0">
              <a:solidFill>
                <a:srgbClr val="080808"/>
              </a:solidFill>
              <a:latin typeface="Arial Narrow" panose="020B0606020202030204"/>
            </a:endParaRPr>
          </a:p>
        </p:txBody>
      </p:sp>
      <p:sp>
        <p:nvSpPr>
          <p:cNvPr id="113" name="TextBox 46"/>
          <p:cNvSpPr txBox="1"/>
          <p:nvPr/>
        </p:nvSpPr>
        <p:spPr>
          <a:xfrm>
            <a:off x="521208" y="5925312"/>
            <a:ext cx="1170432" cy="1371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680" b="0" i="0">
                <a:solidFill>
                  <a:srgbClr val="5F5F5F"/>
                </a:solidFill>
                <a:latin typeface="Arial" panose="020B0604020202020204"/>
              </a:rPr>
              <a:t>Model</a:t>
            </a:r>
            <a:endParaRPr sz="680" b="0" i="0">
              <a:solidFill>
                <a:srgbClr val="5F5F5F"/>
              </a:solidFill>
              <a:latin typeface="Arial" panose="020B0604020202020204"/>
            </a:endParaRPr>
          </a:p>
        </p:txBody>
      </p:sp>
      <p:sp>
        <p:nvSpPr>
          <p:cNvPr id="114" name="Rounded Rectangle 113"/>
          <p:cNvSpPr/>
          <p:nvPr/>
        </p:nvSpPr>
        <p:spPr>
          <a:xfrm>
            <a:off x="1883664" y="5733288"/>
            <a:ext cx="1261872" cy="384048"/>
          </a:xfrm>
          <a:prstGeom prst="roundRect">
            <a:avLst/>
          </a:prstGeom>
          <a:solidFill>
            <a:srgbClr val="E0F6E2"/>
          </a:solidFill>
          <a:ln w="12700">
            <a:solidFill>
              <a:srgbClr val="E0F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48"/>
          <p:cNvSpPr txBox="1"/>
          <p:nvPr/>
        </p:nvSpPr>
        <p:spPr>
          <a:xfrm>
            <a:off x="1929384" y="5769864"/>
            <a:ext cx="1170432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850" b="1" i="0">
                <a:solidFill>
                  <a:srgbClr val="080808"/>
                </a:solidFill>
                <a:latin typeface="Arial Narrow" panose="020B0606020202030204"/>
              </a:rPr>
              <a:t>OpenCV</a:t>
            </a:r>
            <a:endParaRPr sz="850" b="1" i="0">
              <a:solidFill>
                <a:srgbClr val="080808"/>
              </a:solidFill>
              <a:latin typeface="Arial Narrow" panose="020B0606020202030204"/>
            </a:endParaRPr>
          </a:p>
        </p:txBody>
      </p:sp>
      <p:sp>
        <p:nvSpPr>
          <p:cNvPr id="116" name="TextBox 49"/>
          <p:cNvSpPr txBox="1"/>
          <p:nvPr/>
        </p:nvSpPr>
        <p:spPr>
          <a:xfrm>
            <a:off x="1929384" y="5925312"/>
            <a:ext cx="1170432" cy="1371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680" b="0" i="0">
                <a:solidFill>
                  <a:srgbClr val="5F5F5F"/>
                </a:solidFill>
                <a:latin typeface="Arial" panose="020B0604020202020204"/>
              </a:rPr>
              <a:t>Quality/XAI</a:t>
            </a:r>
            <a:endParaRPr sz="680" b="0" i="0">
              <a:solidFill>
                <a:srgbClr val="5F5F5F"/>
              </a:solidFill>
              <a:latin typeface="Arial" panose="020B0604020202020204"/>
            </a:endParaRPr>
          </a:p>
        </p:txBody>
      </p:sp>
      <p:sp>
        <p:nvSpPr>
          <p:cNvPr id="117" name="Rounded Rectangle 116"/>
          <p:cNvSpPr/>
          <p:nvPr/>
        </p:nvSpPr>
        <p:spPr>
          <a:xfrm>
            <a:off x="3291840" y="5733288"/>
            <a:ext cx="1261872" cy="384048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FF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51"/>
          <p:cNvSpPr txBox="1"/>
          <p:nvPr/>
        </p:nvSpPr>
        <p:spPr>
          <a:xfrm>
            <a:off x="3337560" y="5769864"/>
            <a:ext cx="1170432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850" b="1" i="0">
                <a:solidFill>
                  <a:srgbClr val="080808"/>
                </a:solidFill>
                <a:latin typeface="Arial Narrow" panose="020B0606020202030204"/>
              </a:rPr>
              <a:t>FastAPI</a:t>
            </a:r>
            <a:endParaRPr sz="850" b="1" i="0">
              <a:solidFill>
                <a:srgbClr val="080808"/>
              </a:solidFill>
              <a:latin typeface="Arial Narrow" panose="020B0606020202030204"/>
            </a:endParaRPr>
          </a:p>
        </p:txBody>
      </p:sp>
      <p:sp>
        <p:nvSpPr>
          <p:cNvPr id="119" name="TextBox 52"/>
          <p:cNvSpPr txBox="1"/>
          <p:nvPr/>
        </p:nvSpPr>
        <p:spPr>
          <a:xfrm>
            <a:off x="3337560" y="5925312"/>
            <a:ext cx="1170432" cy="1371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680" b="0" i="0">
                <a:solidFill>
                  <a:srgbClr val="5F5F5F"/>
                </a:solidFill>
                <a:latin typeface="Arial" panose="020B0604020202020204"/>
              </a:rPr>
              <a:t>Local API</a:t>
            </a:r>
            <a:endParaRPr sz="680" b="0" i="0">
              <a:solidFill>
                <a:srgbClr val="5F5F5F"/>
              </a:solidFill>
              <a:latin typeface="Arial" panose="020B0604020202020204"/>
            </a:endParaRPr>
          </a:p>
        </p:txBody>
      </p:sp>
      <p:sp>
        <p:nvSpPr>
          <p:cNvPr id="120" name="Rounded Rectangle 119"/>
          <p:cNvSpPr/>
          <p:nvPr/>
        </p:nvSpPr>
        <p:spPr>
          <a:xfrm>
            <a:off x="4700016" y="5733288"/>
            <a:ext cx="1261872" cy="384048"/>
          </a:xfrm>
          <a:prstGeom prst="roundRect">
            <a:avLst/>
          </a:prstGeom>
          <a:solidFill>
            <a:srgbClr val="EFE8FB"/>
          </a:solidFill>
          <a:ln w="12700">
            <a:solidFill>
              <a:srgbClr val="EF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54"/>
          <p:cNvSpPr txBox="1"/>
          <p:nvPr/>
        </p:nvSpPr>
        <p:spPr>
          <a:xfrm>
            <a:off x="4745736" y="5769864"/>
            <a:ext cx="1170432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850" b="1" i="0">
                <a:solidFill>
                  <a:srgbClr val="080808"/>
                </a:solidFill>
                <a:latin typeface="Arial Narrow" panose="020B0606020202030204"/>
              </a:rPr>
              <a:t>React</a:t>
            </a:r>
            <a:endParaRPr sz="850" b="1" i="0">
              <a:solidFill>
                <a:srgbClr val="080808"/>
              </a:solidFill>
              <a:latin typeface="Arial Narrow" panose="020B0606020202030204"/>
            </a:endParaRPr>
          </a:p>
        </p:txBody>
      </p:sp>
      <p:sp>
        <p:nvSpPr>
          <p:cNvPr id="122" name="TextBox 55"/>
          <p:cNvSpPr txBox="1"/>
          <p:nvPr/>
        </p:nvSpPr>
        <p:spPr>
          <a:xfrm>
            <a:off x="4745736" y="5925312"/>
            <a:ext cx="1170432" cy="1371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680" b="0" i="0">
                <a:solidFill>
                  <a:srgbClr val="5F5F5F"/>
                </a:solidFill>
                <a:latin typeface="Arial" panose="020B0604020202020204"/>
              </a:rPr>
              <a:t>PWA</a:t>
            </a:r>
            <a:endParaRPr sz="680" b="0" i="0">
              <a:solidFill>
                <a:srgbClr val="5F5F5F"/>
              </a:solidFill>
              <a:latin typeface="Arial" panose="020B0604020202020204"/>
            </a:endParaRPr>
          </a:p>
        </p:txBody>
      </p:sp>
      <p:sp>
        <p:nvSpPr>
          <p:cNvPr id="123" name="Rounded Rectangle 122"/>
          <p:cNvSpPr/>
          <p:nvPr/>
        </p:nvSpPr>
        <p:spPr>
          <a:xfrm>
            <a:off x="6108192" y="5733288"/>
            <a:ext cx="1261872" cy="384048"/>
          </a:xfrm>
          <a:prstGeom prst="roundRect">
            <a:avLst/>
          </a:prstGeom>
          <a:solidFill>
            <a:srgbClr val="FBEBF1"/>
          </a:solidFill>
          <a:ln w="12700">
            <a:solidFill>
              <a:srgbClr val="FB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57"/>
          <p:cNvSpPr txBox="1"/>
          <p:nvPr/>
        </p:nvSpPr>
        <p:spPr>
          <a:xfrm>
            <a:off x="6153912" y="5769864"/>
            <a:ext cx="1170432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850" b="1" i="0">
                <a:solidFill>
                  <a:srgbClr val="080808"/>
                </a:solidFill>
                <a:latin typeface="Arial Narrow" panose="020B0606020202030204"/>
              </a:rPr>
              <a:t>IndexedDB</a:t>
            </a:r>
            <a:endParaRPr sz="850" b="1" i="0">
              <a:solidFill>
                <a:srgbClr val="080808"/>
              </a:solidFill>
              <a:latin typeface="Arial Narrow" panose="020B0606020202030204"/>
            </a:endParaRPr>
          </a:p>
        </p:txBody>
      </p:sp>
      <p:sp>
        <p:nvSpPr>
          <p:cNvPr id="125" name="TextBox 58"/>
          <p:cNvSpPr txBox="1"/>
          <p:nvPr/>
        </p:nvSpPr>
        <p:spPr>
          <a:xfrm>
            <a:off x="6153912" y="5925312"/>
            <a:ext cx="1170432" cy="1371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680" b="0" i="0">
                <a:solidFill>
                  <a:srgbClr val="5F5F5F"/>
                </a:solidFill>
                <a:latin typeface="Arial" panose="020B0604020202020204"/>
              </a:rPr>
              <a:t>Offline</a:t>
            </a:r>
            <a:endParaRPr sz="680" b="0" i="0">
              <a:solidFill>
                <a:srgbClr val="5F5F5F"/>
              </a:solidFill>
              <a:latin typeface="Arial" panose="020B0604020202020204"/>
            </a:endParaRPr>
          </a:p>
        </p:txBody>
      </p:sp>
      <p:sp>
        <p:nvSpPr>
          <p:cNvPr id="126" name="Rounded Rectangle 125"/>
          <p:cNvSpPr/>
          <p:nvPr/>
        </p:nvSpPr>
        <p:spPr>
          <a:xfrm>
            <a:off x="8028431" y="1005840"/>
            <a:ext cx="3959352" cy="5321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0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8275320" y="1234440"/>
            <a:ext cx="1417320" cy="310896"/>
          </a:xfrm>
          <a:prstGeom prst="roundRect">
            <a:avLst/>
          </a:prstGeom>
          <a:solidFill>
            <a:srgbClr val="080808"/>
          </a:solidFill>
          <a:ln w="12700">
            <a:solidFill>
              <a:srgbClr val="080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61"/>
          <p:cNvSpPr txBox="1"/>
          <p:nvPr/>
        </p:nvSpPr>
        <p:spPr>
          <a:xfrm>
            <a:off x="8348472" y="1243584"/>
            <a:ext cx="1271016" cy="29260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 Narrow" panose="020B0606020202030204"/>
              </a:rPr>
              <a:t>MODEL CHOICE</a:t>
            </a:r>
            <a:endParaRPr sz="1100" b="1" i="0">
              <a:solidFill>
                <a:srgbClr val="FFFFFF"/>
              </a:solidFill>
              <a:latin typeface="Arial Narrow" panose="020B0606020202030204"/>
            </a:endParaRPr>
          </a:p>
        </p:txBody>
      </p:sp>
      <p:sp>
        <p:nvSpPr>
          <p:cNvPr id="129" name="TextBox 62"/>
          <p:cNvSpPr txBox="1"/>
          <p:nvPr/>
        </p:nvSpPr>
        <p:spPr>
          <a:xfrm>
            <a:off x="8321040" y="1664208"/>
            <a:ext cx="182880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067B4"/>
                </a:solidFill>
                <a:latin typeface="Arial Narrow" panose="020B0606020202030204"/>
              </a:rPr>
              <a:t>ResNet-50</a:t>
            </a:r>
            <a:endParaRPr sz="2000" b="1" i="0">
              <a:solidFill>
                <a:srgbClr val="0067B4"/>
              </a:solidFill>
              <a:latin typeface="Arial Narrow" panose="020B0606020202030204"/>
            </a:endParaRPr>
          </a:p>
        </p:txBody>
      </p:sp>
      <p:sp>
        <p:nvSpPr>
          <p:cNvPr id="130" name="TextBox 63"/>
          <p:cNvSpPr txBox="1"/>
          <p:nvPr/>
        </p:nvSpPr>
        <p:spPr>
          <a:xfrm>
            <a:off x="8321040" y="1993392"/>
            <a:ext cx="324612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20" b="1" i="0">
                <a:solidFill>
                  <a:srgbClr val="080808"/>
                </a:solidFill>
                <a:latin typeface="Arial" panose="020B0604020202020204"/>
              </a:rPr>
              <a:t>25.5M params  •  ~100 MB  •  1.2 s CPU</a:t>
            </a:r>
            <a:endParaRPr sz="1020" b="1" i="0">
              <a:solidFill>
                <a:srgbClr val="080808"/>
              </a:solidFill>
              <a:latin typeface="Arial" panose="020B0604020202020204"/>
            </a:endParaRPr>
          </a:p>
        </p:txBody>
      </p:sp>
      <p:sp>
        <p:nvSpPr>
          <p:cNvPr id="131" name="TextBox 64"/>
          <p:cNvSpPr txBox="1"/>
          <p:nvPr/>
        </p:nvSpPr>
        <p:spPr>
          <a:xfrm>
            <a:off x="8321040" y="2331720"/>
            <a:ext cx="3246120" cy="49377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60" b="0" i="0">
                <a:solidFill>
                  <a:srgbClr val="080808"/>
                </a:solidFill>
                <a:latin typeface="Arial" panose="020B0604020202020204"/>
              </a:rPr>
              <a:t>Chosen for rural offline feasibility + native Grad-CAM interpretability.</a:t>
            </a:r>
            <a:endParaRPr sz="960" b="0" i="0">
              <a:solidFill>
                <a:srgbClr val="080808"/>
              </a:solidFill>
              <a:latin typeface="Arial" panose="020B0604020202020204"/>
            </a:endParaRPr>
          </a:p>
        </p:txBody>
      </p:sp>
      <p:sp>
        <p:nvSpPr>
          <p:cNvPr id="132" name="Rounded Rectangle 131"/>
          <p:cNvSpPr/>
          <p:nvPr/>
        </p:nvSpPr>
        <p:spPr>
          <a:xfrm>
            <a:off x="8275320" y="2944368"/>
            <a:ext cx="1874519" cy="310896"/>
          </a:xfrm>
          <a:prstGeom prst="roundRect">
            <a:avLst/>
          </a:prstGeom>
          <a:solidFill>
            <a:srgbClr val="080808"/>
          </a:solidFill>
          <a:ln w="12700">
            <a:solidFill>
              <a:srgbClr val="080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66"/>
          <p:cNvSpPr txBox="1"/>
          <p:nvPr/>
        </p:nvSpPr>
        <p:spPr>
          <a:xfrm>
            <a:off x="8348472" y="2953512"/>
            <a:ext cx="1728216" cy="29260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 Narrow" panose="020B0606020202030204"/>
              </a:rPr>
              <a:t>XAI / LESION ENGINE</a:t>
            </a:r>
            <a:endParaRPr sz="1100" b="1" i="0">
              <a:solidFill>
                <a:srgbClr val="FFFFFF"/>
              </a:solidFill>
              <a:latin typeface="Arial Narrow" panose="020B0606020202030204"/>
            </a:endParaRPr>
          </a:p>
        </p:txBody>
      </p:sp>
      <p:sp>
        <p:nvSpPr>
          <p:cNvPr id="134" name="Rounded Rectangle 133"/>
          <p:cNvSpPr/>
          <p:nvPr/>
        </p:nvSpPr>
        <p:spPr>
          <a:xfrm>
            <a:off x="8275320" y="3383280"/>
            <a:ext cx="3429000" cy="475488"/>
          </a:xfrm>
          <a:prstGeom prst="roundRect">
            <a:avLst/>
          </a:prstGeom>
          <a:solidFill>
            <a:srgbClr val="E1F2FC"/>
          </a:solidFill>
          <a:ln w="12700">
            <a:solidFill>
              <a:srgbClr val="E1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68"/>
          <p:cNvSpPr txBox="1"/>
          <p:nvPr/>
        </p:nvSpPr>
        <p:spPr>
          <a:xfrm>
            <a:off x="8412480" y="3456432"/>
            <a:ext cx="960120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0067B4"/>
                </a:solidFill>
                <a:latin typeface="Arial Narrow" panose="020B0606020202030204"/>
              </a:rPr>
              <a:t>Grad-CAM</a:t>
            </a:r>
            <a:endParaRPr sz="900" b="1" i="0">
              <a:solidFill>
                <a:srgbClr val="0067B4"/>
              </a:solidFill>
              <a:latin typeface="Arial Narrow" panose="020B0606020202030204"/>
            </a:endParaRPr>
          </a:p>
        </p:txBody>
      </p:sp>
      <p:sp>
        <p:nvSpPr>
          <p:cNvPr id="136" name="TextBox 69"/>
          <p:cNvSpPr txBox="1"/>
          <p:nvPr/>
        </p:nvSpPr>
        <p:spPr>
          <a:xfrm>
            <a:off x="9372600" y="3456432"/>
            <a:ext cx="214884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820" b="0" i="0">
                <a:solidFill>
                  <a:srgbClr val="080808"/>
                </a:solidFill>
                <a:latin typeface="Arial" panose="020B0604020202020204"/>
              </a:rPr>
              <a:t>Layer4 attention map</a:t>
            </a:r>
            <a:endParaRPr sz="820" b="0" i="0">
              <a:solidFill>
                <a:srgbClr val="080808"/>
              </a:solidFill>
              <a:latin typeface="Arial" panose="020B0604020202020204"/>
            </a:endParaRPr>
          </a:p>
        </p:txBody>
      </p:sp>
      <p:sp>
        <p:nvSpPr>
          <p:cNvPr id="137" name="Rounded Rectangle 136"/>
          <p:cNvSpPr/>
          <p:nvPr/>
        </p:nvSpPr>
        <p:spPr>
          <a:xfrm>
            <a:off x="8275320" y="3968496"/>
            <a:ext cx="3429000" cy="475488"/>
          </a:xfrm>
          <a:prstGeom prst="roundRect">
            <a:avLst/>
          </a:prstGeom>
          <a:solidFill>
            <a:srgbClr val="E0F6E2"/>
          </a:solidFill>
          <a:ln w="12700">
            <a:solidFill>
              <a:srgbClr val="E0F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71"/>
          <p:cNvSpPr txBox="1"/>
          <p:nvPr/>
        </p:nvSpPr>
        <p:spPr>
          <a:xfrm>
            <a:off x="8412480" y="4041648"/>
            <a:ext cx="960120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238C56"/>
                </a:solidFill>
                <a:latin typeface="Arial Narrow" panose="020B0606020202030204"/>
              </a:rPr>
              <a:t>Optic Disc</a:t>
            </a:r>
            <a:endParaRPr sz="900" b="1" i="0">
              <a:solidFill>
                <a:srgbClr val="238C56"/>
              </a:solidFill>
              <a:latin typeface="Arial Narrow" panose="020B0606020202030204"/>
            </a:endParaRPr>
          </a:p>
        </p:txBody>
      </p:sp>
      <p:sp>
        <p:nvSpPr>
          <p:cNvPr id="139" name="TextBox 72"/>
          <p:cNvSpPr txBox="1"/>
          <p:nvPr/>
        </p:nvSpPr>
        <p:spPr>
          <a:xfrm>
            <a:off x="9372600" y="4041648"/>
            <a:ext cx="214884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820" b="0" i="0">
                <a:solidFill>
                  <a:srgbClr val="080808"/>
                </a:solidFill>
                <a:latin typeface="Arial" panose="020B0604020202020204"/>
              </a:rPr>
              <a:t>15% safety mask</a:t>
            </a:r>
            <a:endParaRPr sz="820" b="0" i="0">
              <a:solidFill>
                <a:srgbClr val="080808"/>
              </a:solidFill>
              <a:latin typeface="Arial" panose="020B0604020202020204"/>
            </a:endParaRPr>
          </a:p>
        </p:txBody>
      </p:sp>
      <p:sp>
        <p:nvSpPr>
          <p:cNvPr id="140" name="Rounded Rectangle 139"/>
          <p:cNvSpPr/>
          <p:nvPr/>
        </p:nvSpPr>
        <p:spPr>
          <a:xfrm>
            <a:off x="8275320" y="4553712"/>
            <a:ext cx="3429000" cy="475488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FF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74"/>
          <p:cNvSpPr txBox="1"/>
          <p:nvPr/>
        </p:nvSpPr>
        <p:spPr>
          <a:xfrm>
            <a:off x="8412480" y="4626864"/>
            <a:ext cx="960120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F49A31"/>
                </a:solidFill>
                <a:latin typeface="Arial Narrow" panose="020B0606020202030204"/>
              </a:rPr>
              <a:t>Lesions</a:t>
            </a:r>
            <a:endParaRPr sz="900" b="1" i="0">
              <a:solidFill>
                <a:srgbClr val="F49A31"/>
              </a:solidFill>
              <a:latin typeface="Arial Narrow" panose="020B0606020202030204"/>
            </a:endParaRPr>
          </a:p>
        </p:txBody>
      </p:sp>
      <p:sp>
        <p:nvSpPr>
          <p:cNvPr id="142" name="TextBox 75"/>
          <p:cNvSpPr txBox="1"/>
          <p:nvPr/>
        </p:nvSpPr>
        <p:spPr>
          <a:xfrm>
            <a:off x="9372600" y="4626864"/>
            <a:ext cx="214884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820" b="0" i="0">
                <a:solidFill>
                  <a:srgbClr val="080808"/>
                </a:solidFill>
                <a:latin typeface="Arial" panose="020B0604020202020204"/>
              </a:rPr>
              <a:t>MAs • HMs • EXs • CWS</a:t>
            </a:r>
            <a:endParaRPr sz="820" b="0" i="0">
              <a:solidFill>
                <a:srgbClr val="080808"/>
              </a:solidFill>
              <a:latin typeface="Arial" panose="020B0604020202020204"/>
            </a:endParaRPr>
          </a:p>
        </p:txBody>
      </p:sp>
      <p:sp>
        <p:nvSpPr>
          <p:cNvPr id="143" name="Rounded Rectangle 142"/>
          <p:cNvSpPr/>
          <p:nvPr/>
        </p:nvSpPr>
        <p:spPr>
          <a:xfrm>
            <a:off x="8275320" y="5138928"/>
            <a:ext cx="3429000" cy="475488"/>
          </a:xfrm>
          <a:prstGeom prst="roundRect">
            <a:avLst/>
          </a:prstGeom>
          <a:solidFill>
            <a:srgbClr val="FBEBF1"/>
          </a:solidFill>
          <a:ln w="12700">
            <a:solidFill>
              <a:srgbClr val="FB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77"/>
          <p:cNvSpPr txBox="1"/>
          <p:nvPr/>
        </p:nvSpPr>
        <p:spPr>
          <a:xfrm>
            <a:off x="8412480" y="5212080"/>
            <a:ext cx="960120" cy="16459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BE3C37"/>
                </a:solidFill>
                <a:latin typeface="Arial Narrow" panose="020B0606020202030204"/>
              </a:rPr>
              <a:t>Report</a:t>
            </a:r>
            <a:endParaRPr sz="900" b="1" i="0">
              <a:solidFill>
                <a:srgbClr val="BE3C37"/>
              </a:solidFill>
              <a:latin typeface="Arial Narrow" panose="020B0606020202030204"/>
            </a:endParaRPr>
          </a:p>
        </p:txBody>
      </p:sp>
      <p:sp>
        <p:nvSpPr>
          <p:cNvPr id="145" name="TextBox 78"/>
          <p:cNvSpPr txBox="1"/>
          <p:nvPr/>
        </p:nvSpPr>
        <p:spPr>
          <a:xfrm>
            <a:off x="9372600" y="5212080"/>
            <a:ext cx="214884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820" b="0" i="0">
                <a:solidFill>
                  <a:srgbClr val="080808"/>
                </a:solidFill>
                <a:latin typeface="Arial" panose="020B0604020202020204"/>
              </a:rPr>
              <a:t>Labels + lead lines + PDF</a:t>
            </a:r>
            <a:endParaRPr sz="820" b="0" i="0">
              <a:solidFill>
                <a:srgbClr val="080808"/>
              </a:solidFill>
              <a:latin typeface="Arial" panose="020B0604020202020204"/>
            </a:endParaRPr>
          </a:p>
        </p:txBody>
      </p:sp>
      <p:pic>
        <p:nvPicPr>
          <p:cNvPr id="147" name="Picture 146" descr="architecture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05" y="1140460"/>
            <a:ext cx="6913245" cy="38887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/>
          <p:cNvSpPr/>
          <p:nvPr/>
        </p:nvSpPr>
        <p:spPr>
          <a:xfrm>
            <a:off x="329773" y="129001"/>
            <a:ext cx="160718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visionX</a:t>
            </a:r>
            <a:endParaRPr lang="en-IN" sz="2400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95675" y="41148"/>
            <a:ext cx="5170170" cy="5029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2800" b="1" i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 AND VIABILITY</a:t>
            </a:r>
            <a:endParaRPr sz="2800" b="1" i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256032" y="749808"/>
            <a:ext cx="1234440" cy="347472"/>
          </a:xfrm>
          <a:prstGeom prst="roundRect">
            <a:avLst/>
          </a:prstGeom>
          <a:solidFill>
            <a:srgbClr val="080808"/>
          </a:solidFill>
          <a:ln w="12700">
            <a:solidFill>
              <a:srgbClr val="080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10"/>
          <p:cNvSpPr txBox="1"/>
          <p:nvPr/>
        </p:nvSpPr>
        <p:spPr>
          <a:xfrm>
            <a:off x="329184" y="758952"/>
            <a:ext cx="1088136" cy="329184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 Narrow" panose="020B0606020202030204"/>
              </a:rPr>
              <a:t>FEASIBILITY</a:t>
            </a:r>
            <a:endParaRPr sz="1300" b="1" i="0">
              <a:solidFill>
                <a:srgbClr val="FFFFFF"/>
              </a:solidFill>
              <a:latin typeface="Arial Narrow" panose="020B0606020202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56032" y="1207008"/>
            <a:ext cx="5166360" cy="786384"/>
          </a:xfrm>
          <a:prstGeom prst="roundRect">
            <a:avLst/>
          </a:prstGeom>
          <a:solidFill>
            <a:srgbClr val="E1F2FC"/>
          </a:solidFill>
          <a:ln w="12700">
            <a:solidFill>
              <a:srgbClr val="E1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84048" y="1335024"/>
            <a:ext cx="5029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1344168"/>
            <a:ext cx="502920" cy="48463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700" b="1" i="0">
                <a:solidFill>
                  <a:srgbClr val="0067B4"/>
                </a:solidFill>
                <a:latin typeface="Segoe UI Symbol" panose="020B0502040204020203"/>
              </a:rPr>
              <a:t>⚙</a:t>
            </a:r>
            <a:endParaRPr sz="1700" b="1" i="0">
              <a:solidFill>
                <a:srgbClr val="0067B4"/>
              </a:solidFill>
              <a:latin typeface="Segoe UI Symbol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05840" y="1280160"/>
            <a:ext cx="210312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150" b="1" i="0">
                <a:solidFill>
                  <a:srgbClr val="080808"/>
                </a:solidFill>
                <a:latin typeface="Arial Narrow" panose="020B0606020202030204"/>
              </a:rPr>
              <a:t>Technical Feasibility</a:t>
            </a:r>
            <a:endParaRPr sz="1150" b="1" i="0">
              <a:solidFill>
                <a:srgbClr val="080808"/>
              </a:solidFill>
              <a:latin typeface="Arial Narrow" panose="020B0606020202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05840" y="1554480"/>
            <a:ext cx="416052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860" b="0" i="0">
                <a:solidFill>
                  <a:srgbClr val="080808"/>
                </a:solidFill>
                <a:latin typeface="Arial" panose="020B0604020202020204"/>
              </a:rPr>
              <a:t>QWK 0.8855 • 79.95% exact 5-class accuracy
100% sensitivity on severe + PDR cases.</a:t>
            </a:r>
            <a:endParaRPr sz="860" b="0" i="0">
              <a:solidFill>
                <a:srgbClr val="080808"/>
              </a:solidFill>
              <a:latin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56032" y="2139696"/>
            <a:ext cx="5166360" cy="786384"/>
          </a:xfrm>
          <a:prstGeom prst="roundRect">
            <a:avLst/>
          </a:prstGeom>
          <a:solidFill>
            <a:srgbClr val="E0F6E2"/>
          </a:solidFill>
          <a:ln w="12700">
            <a:solidFill>
              <a:srgbClr val="E0F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4048" y="2267712"/>
            <a:ext cx="5029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2276856"/>
            <a:ext cx="502920" cy="48463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700" b="1" i="0">
                <a:solidFill>
                  <a:srgbClr val="238C56"/>
                </a:solidFill>
                <a:latin typeface="Segoe UI Symbol" panose="020B0502040204020203"/>
              </a:rPr>
              <a:t>⌁</a:t>
            </a:r>
            <a:endParaRPr sz="1700" b="1" i="0">
              <a:solidFill>
                <a:srgbClr val="238C56"/>
              </a:solidFill>
              <a:latin typeface="Segoe UI Symbol" panose="020B0502040204020203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05840" y="2212848"/>
            <a:ext cx="210312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150" b="1" i="0">
                <a:solidFill>
                  <a:srgbClr val="080808"/>
                </a:solidFill>
                <a:latin typeface="Arial Narrow" panose="020B0606020202030204"/>
              </a:rPr>
              <a:t>Operational Feasibility</a:t>
            </a:r>
            <a:endParaRPr sz="1150" b="1" i="0">
              <a:solidFill>
                <a:srgbClr val="080808"/>
              </a:solidFill>
              <a:latin typeface="Arial Narrow" panose="020B0606020202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05840" y="2487168"/>
            <a:ext cx="416052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860" b="0" i="0">
                <a:solidFill>
                  <a:srgbClr val="080808"/>
                </a:solidFill>
                <a:latin typeface="Arial" panose="020B0604020202020204"/>
              </a:rPr>
              <a:t>100% offline PWA + IndexedDB
500+ patient screening records locally.</a:t>
            </a:r>
            <a:endParaRPr sz="860" b="0" i="0">
              <a:solidFill>
                <a:srgbClr val="080808"/>
              </a:solidFill>
              <a:latin typeface="Arial" panose="020B060402020202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256032" y="3072384"/>
            <a:ext cx="5166360" cy="786384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FF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84048" y="3200400"/>
            <a:ext cx="5029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209544"/>
            <a:ext cx="502920" cy="48463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700" b="1" i="0">
                <a:solidFill>
                  <a:srgbClr val="F49A31"/>
                </a:solidFill>
                <a:latin typeface="Segoe UI Symbol" panose="020B0502040204020203"/>
              </a:rPr>
              <a:t>₹</a:t>
            </a:r>
            <a:endParaRPr sz="1700" b="1" i="0">
              <a:solidFill>
                <a:srgbClr val="F49A31"/>
              </a:solidFill>
              <a:latin typeface="Segoe UI Symbol" panose="020B0502040204020203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05840" y="3145536"/>
            <a:ext cx="210312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150" b="1" i="0">
                <a:solidFill>
                  <a:srgbClr val="080808"/>
                </a:solidFill>
                <a:latin typeface="Arial Narrow" panose="020B0606020202030204"/>
              </a:rPr>
              <a:t>Economic Feasibility</a:t>
            </a:r>
            <a:endParaRPr sz="1150" b="1" i="0">
              <a:solidFill>
                <a:srgbClr val="080808"/>
              </a:solidFill>
              <a:latin typeface="Arial Narrow" panose="020B0606020202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05840" y="3419856"/>
            <a:ext cx="416052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860" b="0" i="0">
                <a:solidFill>
                  <a:srgbClr val="080808"/>
                </a:solidFill>
                <a:latin typeface="Arial" panose="020B0604020202020204"/>
              </a:rPr>
              <a:t>&gt;99% lower screening triage cost
₹1,500 specialist fee → &lt;₹10 per scan.</a:t>
            </a:r>
            <a:endParaRPr sz="860" b="0" i="0">
              <a:solidFill>
                <a:srgbClr val="080808"/>
              </a:solidFill>
              <a:latin typeface="Arial" panose="020B0604020202020204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256032" y="4005072"/>
            <a:ext cx="5166360" cy="786384"/>
          </a:xfrm>
          <a:prstGeom prst="roundRect">
            <a:avLst/>
          </a:prstGeom>
          <a:solidFill>
            <a:srgbClr val="EFE8FB"/>
          </a:solidFill>
          <a:ln w="12700">
            <a:solidFill>
              <a:srgbClr val="EF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84048" y="4133087"/>
            <a:ext cx="5029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4142231"/>
            <a:ext cx="502920" cy="48463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700" b="1" i="0">
                <a:solidFill>
                  <a:srgbClr val="7E5EB9"/>
                </a:solidFill>
                <a:latin typeface="Segoe UI Symbol" panose="020B0502040204020203"/>
              </a:rPr>
              <a:t>▣</a:t>
            </a:r>
            <a:endParaRPr sz="1700" b="1" i="0">
              <a:solidFill>
                <a:srgbClr val="7E5EB9"/>
              </a:solidFill>
              <a:latin typeface="Segoe UI Symbol" panose="020B0502040204020203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05840" y="4078224"/>
            <a:ext cx="210312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150" b="1" i="0">
                <a:solidFill>
                  <a:srgbClr val="080808"/>
                </a:solidFill>
                <a:latin typeface="Arial Narrow" panose="020B0606020202030204"/>
              </a:rPr>
              <a:t>Regulatory Feasibility</a:t>
            </a:r>
            <a:endParaRPr sz="1150" b="1" i="0">
              <a:solidFill>
                <a:srgbClr val="080808"/>
              </a:solidFill>
              <a:latin typeface="Arial Narrow" panose="020B0606020202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05840" y="4352544"/>
            <a:ext cx="416052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860" b="0" i="0">
                <a:solidFill>
                  <a:srgbClr val="080808"/>
                </a:solidFill>
                <a:latin typeface="Arial" panose="020B0604020202020204"/>
              </a:rPr>
              <a:t>ICDR severity scale + ETDRS terminology
Designed around clinical grading conventions.</a:t>
            </a:r>
            <a:endParaRPr sz="860" b="0" i="0">
              <a:solidFill>
                <a:srgbClr val="080808"/>
              </a:solidFill>
              <a:latin typeface="Arial" panose="020B060402020202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255905" y="5010785"/>
            <a:ext cx="5166360" cy="123126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5120640"/>
            <a:ext cx="141732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080808"/>
                </a:solidFill>
                <a:latin typeface="Arial Narrow" panose="020B0606020202030204"/>
              </a:rPr>
              <a:t>MARKET VIABILITY</a:t>
            </a:r>
            <a:endParaRPr sz="1150" b="1" i="0">
              <a:solidFill>
                <a:srgbClr val="080808"/>
              </a:solidFill>
              <a:latin typeface="Arial Narrow" panose="020B0606020202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38912" y="5385816"/>
            <a:ext cx="461772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840" b="0" i="0">
                <a:solidFill>
                  <a:srgbClr val="080808"/>
                </a:solidFill>
                <a:latin typeface="Arial" panose="020B0604020202020204"/>
              </a:rPr>
              <a:t>77M+ diagnosed diabetics  •  &lt;25,000 ophthalmologists</a:t>
            </a:r>
            <a:endParaRPr sz="840" b="0" i="0">
              <a:solidFill>
                <a:srgbClr val="080808"/>
              </a:solidFill>
              <a:latin typeface="Arial" panose="020B0604020202020204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1874519" y="5623560"/>
            <a:ext cx="1143000" cy="164592"/>
          </a:xfrm>
          <a:prstGeom prst="roundRect">
            <a:avLst/>
          </a:prstGeom>
          <a:solidFill>
            <a:srgbClr val="0067B4"/>
          </a:solidFill>
          <a:ln w="12700">
            <a:solidFill>
              <a:srgbClr val="00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874519" y="5815584"/>
            <a:ext cx="1143000" cy="14630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720" b="1" i="0">
                <a:solidFill>
                  <a:srgbClr val="080808"/>
                </a:solidFill>
                <a:latin typeface="Arial" panose="020B0604020202020204"/>
              </a:rPr>
              <a:t>Current</a:t>
            </a:r>
            <a:endParaRPr sz="720" b="1" i="0">
              <a:solidFill>
                <a:srgbClr val="080808"/>
              </a:solidFill>
              <a:latin typeface="Arial" panose="020B060402020202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737360" y="5989320"/>
            <a:ext cx="1417320" cy="1371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650" b="0" i="0">
                <a:solidFill>
                  <a:srgbClr val="5F5F5F"/>
                </a:solidFill>
                <a:latin typeface="Arial" panose="020B0604020202020204"/>
              </a:rPr>
              <a:t>77M+</a:t>
            </a:r>
            <a:endParaRPr sz="650" b="0" i="0">
              <a:solidFill>
                <a:srgbClr val="5F5F5F"/>
              </a:solidFill>
              <a:latin typeface="Arial" panose="020B0604020202020204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291839" y="5623560"/>
            <a:ext cx="1143000" cy="164592"/>
          </a:xfrm>
          <a:prstGeom prst="roundRect">
            <a:avLst/>
          </a:prstGeom>
          <a:solidFill>
            <a:srgbClr val="238C56"/>
          </a:solidFill>
          <a:ln w="12700">
            <a:solidFill>
              <a:srgbClr val="238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91839" y="5815584"/>
            <a:ext cx="1143000" cy="14630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720" b="1" i="0">
                <a:solidFill>
                  <a:srgbClr val="080808"/>
                </a:solidFill>
                <a:latin typeface="Arial" panose="020B0604020202020204"/>
              </a:rPr>
              <a:t>Need</a:t>
            </a:r>
            <a:endParaRPr sz="720" b="1" i="0">
              <a:solidFill>
                <a:srgbClr val="080808"/>
              </a:solidFill>
              <a:latin typeface="Arial" panose="020B0604020202020204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154679" y="5989320"/>
            <a:ext cx="1417320" cy="1371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650" b="0" i="0">
                <a:solidFill>
                  <a:srgbClr val="5F5F5F"/>
                </a:solidFill>
                <a:latin typeface="Arial" panose="020B0604020202020204"/>
              </a:rPr>
              <a:t>150k+ PHCs</a:t>
            </a:r>
            <a:endParaRPr sz="650" b="0" i="0">
              <a:solidFill>
                <a:srgbClr val="5F5F5F"/>
              </a:solidFill>
              <a:latin typeface="Arial" panose="020B0604020202020204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5715000" y="749808"/>
            <a:ext cx="1298448" cy="347472"/>
          </a:xfrm>
          <a:prstGeom prst="roundRect">
            <a:avLst/>
          </a:prstGeom>
          <a:solidFill>
            <a:srgbClr val="080808"/>
          </a:solidFill>
          <a:ln w="12700">
            <a:solidFill>
              <a:srgbClr val="080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88152" y="758952"/>
            <a:ext cx="1152144" cy="329184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 Narrow" panose="020B0606020202030204"/>
              </a:rPr>
              <a:t>CHALLENGES</a:t>
            </a:r>
            <a:endParaRPr sz="1300" b="1" i="0">
              <a:solidFill>
                <a:srgbClr val="FFFFFF"/>
              </a:solidFill>
              <a:latin typeface="Arial Narrow" panose="020B0606020202030204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5669280" y="1389888"/>
            <a:ext cx="6126480" cy="4882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3C3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89320" y="1389888"/>
            <a:ext cx="544068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080808"/>
                </a:solidFill>
                <a:latin typeface="Arial Narrow" panose="020B0606020202030204"/>
              </a:rPr>
              <a:t>Rural deployment risks and our fixes</a:t>
            </a:r>
            <a:endParaRPr sz="1300" b="1" i="0">
              <a:solidFill>
                <a:srgbClr val="080808"/>
              </a:solidFill>
              <a:latin typeface="Arial Narrow" panose="020B0606020202030204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5989320" y="1901952"/>
            <a:ext cx="5440680" cy="1005840"/>
          </a:xfrm>
          <a:prstGeom prst="roundRect">
            <a:avLst/>
          </a:prstGeom>
          <a:solidFill>
            <a:srgbClr val="E1F2FC"/>
          </a:solidFill>
          <a:ln w="12700">
            <a:solidFill>
              <a:srgbClr val="E1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144768" y="2112264"/>
            <a:ext cx="438912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44768" y="2121408"/>
            <a:ext cx="438912" cy="420623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500" b="1" i="0">
                <a:solidFill>
                  <a:srgbClr val="0067B4"/>
                </a:solidFill>
                <a:latin typeface="Segoe UI Symbol" panose="020B0502040204020203"/>
              </a:rPr>
              <a:t>1</a:t>
            </a:r>
            <a:endParaRPr sz="1500" b="1" i="0">
              <a:solidFill>
                <a:srgbClr val="0067B4"/>
              </a:solidFill>
              <a:latin typeface="Segoe UI Symbol" panose="020B0502040204020203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748272" y="2011680"/>
            <a:ext cx="141732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80" b="1" i="0">
                <a:solidFill>
                  <a:srgbClr val="080808"/>
                </a:solidFill>
                <a:latin typeface="Arial Narrow" panose="020B0606020202030204"/>
              </a:rPr>
              <a:t>Bad input data</a:t>
            </a:r>
            <a:endParaRPr sz="1080" b="1" i="0">
              <a:solidFill>
                <a:srgbClr val="080808"/>
              </a:solidFill>
              <a:latin typeface="Arial Narrow" panose="020B0606020202030204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119872" y="1975104"/>
            <a:ext cx="2926080" cy="32918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810" b="0" i="0">
                <a:solidFill>
                  <a:srgbClr val="080808"/>
                </a:solidFill>
                <a:latin typeface="Arial" panose="020B0604020202020204"/>
              </a:rPr>
              <a:t>Problem: Blurred / poorly-lit / non-retinal photos</a:t>
            </a:r>
            <a:endParaRPr sz="810" b="0" i="0">
              <a:solidFill>
                <a:srgbClr val="080808"/>
              </a:solidFill>
              <a:latin typeface="Arial" panose="020B0604020202020204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748272" y="2359152"/>
            <a:ext cx="443484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810" b="1" i="0">
                <a:solidFill>
                  <a:srgbClr val="080808"/>
                </a:solidFill>
                <a:latin typeface="Arial" panose="020B0604020202020204"/>
              </a:rPr>
              <a:t>Fix: 5-Pillar Quality Gate intercepts bad scans before inference.</a:t>
            </a:r>
            <a:endParaRPr sz="810" b="1" i="0">
              <a:solidFill>
                <a:srgbClr val="080808"/>
              </a:solidFill>
              <a:latin typeface="Arial" panose="020B0604020202020204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5989320" y="3200400"/>
            <a:ext cx="5440680" cy="1005840"/>
          </a:xfrm>
          <a:prstGeom prst="roundRect">
            <a:avLst/>
          </a:prstGeom>
          <a:solidFill>
            <a:srgbClr val="E0F6E2"/>
          </a:solidFill>
          <a:ln w="12700">
            <a:solidFill>
              <a:srgbClr val="E0F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144768" y="3410712"/>
            <a:ext cx="438912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44768" y="3419856"/>
            <a:ext cx="438912" cy="420623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500" b="1" i="0">
                <a:solidFill>
                  <a:srgbClr val="238C56"/>
                </a:solidFill>
                <a:latin typeface="Segoe UI Symbol" panose="020B0502040204020203"/>
              </a:rPr>
              <a:t>2</a:t>
            </a:r>
            <a:endParaRPr sz="1500" b="1" i="0">
              <a:solidFill>
                <a:srgbClr val="238C56"/>
              </a:solidFill>
              <a:latin typeface="Segoe UI Symbol" panose="020B0502040204020203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748272" y="3310128"/>
            <a:ext cx="141732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80" b="1" i="0">
                <a:solidFill>
                  <a:srgbClr val="080808"/>
                </a:solidFill>
                <a:latin typeface="Arial Narrow" panose="020B0606020202030204"/>
              </a:rPr>
              <a:t>AI black box</a:t>
            </a:r>
            <a:endParaRPr sz="1080" b="1" i="0">
              <a:solidFill>
                <a:srgbClr val="080808"/>
              </a:solidFill>
              <a:latin typeface="Arial Narrow" panose="020B0606020202030204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119872" y="3273552"/>
            <a:ext cx="2926080" cy="32918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810" b="0" i="0">
                <a:solidFill>
                  <a:srgbClr val="080808"/>
                </a:solidFill>
                <a:latin typeface="Arial" panose="020B0604020202020204"/>
              </a:rPr>
              <a:t>Problem: Doctors cannot verify why a grade was made</a:t>
            </a:r>
            <a:endParaRPr sz="810" b="0" i="0">
              <a:solidFill>
                <a:srgbClr val="080808"/>
              </a:solidFill>
              <a:latin typeface="Arial" panose="020B0604020202020204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748272" y="3657600"/>
            <a:ext cx="443484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810" b="1" i="0">
                <a:solidFill>
                  <a:srgbClr val="080808"/>
                </a:solidFill>
                <a:latin typeface="Arial" panose="020B0604020202020204"/>
              </a:rPr>
              <a:t>Fix: Grad-CAM + lesion-level heatmaps + dual-mode explanations.</a:t>
            </a:r>
            <a:endParaRPr sz="810" b="1" i="0">
              <a:solidFill>
                <a:srgbClr val="080808"/>
              </a:solidFill>
              <a:latin typeface="Arial" panose="020B0604020202020204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5989320" y="4498848"/>
            <a:ext cx="5440680" cy="100584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FF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144768" y="4709160"/>
            <a:ext cx="438912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44768" y="4718304"/>
            <a:ext cx="438912" cy="420623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500" b="1" i="0">
                <a:solidFill>
                  <a:srgbClr val="F49A31"/>
                </a:solidFill>
                <a:latin typeface="Segoe UI Symbol" panose="020B0502040204020203"/>
              </a:rPr>
              <a:t>3</a:t>
            </a:r>
            <a:endParaRPr sz="1500" b="1" i="0">
              <a:solidFill>
                <a:srgbClr val="F49A31"/>
              </a:solidFill>
              <a:latin typeface="Segoe UI Symbol" panose="020B0502040204020203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748272" y="4608576"/>
            <a:ext cx="1417320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80" b="1" i="0">
                <a:solidFill>
                  <a:srgbClr val="080808"/>
                </a:solidFill>
                <a:latin typeface="Arial Narrow" panose="020B0606020202030204"/>
              </a:rPr>
              <a:t>No internet / GPU</a:t>
            </a:r>
            <a:endParaRPr sz="1080" b="1" i="0">
              <a:solidFill>
                <a:srgbClr val="080808"/>
              </a:solidFill>
              <a:latin typeface="Arial Narrow" panose="020B0606020202030204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8119872" y="4572000"/>
            <a:ext cx="2926080" cy="32918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810" b="0" i="0">
                <a:solidFill>
                  <a:srgbClr val="080808"/>
                </a:solidFill>
                <a:latin typeface="Arial" panose="020B0604020202020204"/>
              </a:rPr>
              <a:t>Problem: Rural sub-centers lack bandwidth and cloud hardware</a:t>
            </a:r>
            <a:endParaRPr sz="810" b="0" i="0">
              <a:solidFill>
                <a:srgbClr val="080808"/>
              </a:solidFill>
              <a:latin typeface="Arial" panose="020B0604020202020204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748272" y="4956048"/>
            <a:ext cx="4434840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810" b="1" i="0">
                <a:solidFill>
                  <a:srgbClr val="080808"/>
                </a:solidFill>
                <a:latin typeface="Arial" panose="020B0604020202020204"/>
              </a:rPr>
              <a:t>Fix: CPU-optimized PyTorch + browser-cached offline PWA.</a:t>
            </a:r>
            <a:endParaRPr sz="810" b="1" i="0">
              <a:solidFill>
                <a:srgbClr val="080808"/>
              </a:solidFill>
              <a:latin typeface="Arial" panose="020B0604020202020204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989320" y="5833872"/>
            <a:ext cx="132588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080808"/>
                </a:solidFill>
                <a:latin typeface="Arial Narrow" panose="020B0606020202030204"/>
              </a:rPr>
              <a:t>MODEL SELECTION</a:t>
            </a:r>
            <a:endParaRPr sz="950" b="1" i="0">
              <a:solidFill>
                <a:srgbClr val="080808"/>
              </a:solidFill>
              <a:latin typeface="Arial Narrow" panose="020B0606020202030204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7360920" y="5742432"/>
            <a:ext cx="1298448" cy="393192"/>
          </a:xfrm>
          <a:prstGeom prst="roundRect">
            <a:avLst/>
          </a:prstGeom>
          <a:solidFill>
            <a:srgbClr val="E0F6E2"/>
          </a:solidFill>
          <a:ln w="12700">
            <a:solidFill>
              <a:srgbClr val="E0F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97496" y="5769864"/>
            <a:ext cx="1225296" cy="1371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720" b="1" i="0">
                <a:solidFill>
                  <a:srgbClr val="080808"/>
                </a:solidFill>
                <a:latin typeface="Arial" panose="020B0604020202020204"/>
              </a:rPr>
              <a:t>ResNet-50</a:t>
            </a:r>
            <a:endParaRPr sz="720" b="1" i="0">
              <a:solidFill>
                <a:srgbClr val="080808"/>
              </a:solidFill>
              <a:latin typeface="Arial" panose="020B0604020202020204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7388352" y="5916168"/>
            <a:ext cx="1243584" cy="1188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610" b="0" i="0">
                <a:solidFill>
                  <a:srgbClr val="5F5F5F"/>
                </a:solidFill>
                <a:latin typeface="Arial" panose="020B0604020202020204"/>
              </a:rPr>
              <a:t>1.2–2.5s • &lt;1.5GB</a:t>
            </a:r>
            <a:endParaRPr sz="610" b="0" i="0">
              <a:solidFill>
                <a:srgbClr val="5F5F5F"/>
              </a:solidFill>
              <a:latin typeface="Arial" panose="020B0604020202020204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8778240" y="5742432"/>
            <a:ext cx="1298448" cy="393192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FF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814816" y="5769864"/>
            <a:ext cx="1225296" cy="1371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720" b="1" i="0">
                <a:solidFill>
                  <a:srgbClr val="080808"/>
                </a:solidFill>
                <a:latin typeface="Arial" panose="020B0604020202020204"/>
              </a:rPr>
              <a:t>EfficientNet-B7</a:t>
            </a:r>
            <a:endParaRPr sz="720" b="1" i="0">
              <a:solidFill>
                <a:srgbClr val="080808"/>
              </a:solidFill>
              <a:latin typeface="Arial" panose="020B0604020202020204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8805672" y="5916168"/>
            <a:ext cx="1243584" cy="1188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610" b="0" i="0">
                <a:solidFill>
                  <a:srgbClr val="5F5F5F"/>
                </a:solidFill>
                <a:latin typeface="Arial" panose="020B0604020202020204"/>
              </a:rPr>
              <a:t>10–16s • &gt;4GB</a:t>
            </a:r>
            <a:endParaRPr sz="610" b="0" i="0">
              <a:solidFill>
                <a:srgbClr val="5F5F5F"/>
              </a:solidFill>
              <a:latin typeface="Arial" panose="020B0604020202020204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10195560" y="5742432"/>
            <a:ext cx="1298448" cy="393192"/>
          </a:xfrm>
          <a:prstGeom prst="roundRect">
            <a:avLst/>
          </a:prstGeom>
          <a:solidFill>
            <a:srgbClr val="FBEBF1"/>
          </a:solidFill>
          <a:ln w="12700">
            <a:solidFill>
              <a:srgbClr val="FBE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232136" y="5769864"/>
            <a:ext cx="1225296" cy="1371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720" b="1" i="0">
                <a:solidFill>
                  <a:srgbClr val="080808"/>
                </a:solidFill>
                <a:latin typeface="Arial" panose="020B0604020202020204"/>
              </a:rPr>
              <a:t>ViT-L/16</a:t>
            </a:r>
            <a:endParaRPr sz="720" b="1" i="0">
              <a:solidFill>
                <a:srgbClr val="080808"/>
              </a:solidFill>
              <a:latin typeface="Arial" panose="020B0604020202020204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10222992" y="5916168"/>
            <a:ext cx="1243584" cy="1188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610" b="0" i="0">
                <a:solidFill>
                  <a:srgbClr val="5F5F5F"/>
                </a:solidFill>
                <a:latin typeface="Arial" panose="020B0604020202020204"/>
              </a:rPr>
              <a:t>25–45s • &gt;8GB</a:t>
            </a:r>
            <a:endParaRPr sz="610" b="0" i="0">
              <a:solidFill>
                <a:srgbClr val="5F5F5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/>
          <p:cNvSpPr/>
          <p:nvPr/>
        </p:nvSpPr>
        <p:spPr>
          <a:xfrm>
            <a:off x="240238" y="17931"/>
            <a:ext cx="1636679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visionX</a:t>
            </a:r>
            <a:endParaRPr lang="en-IN" sz="2400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2490" y="1500"/>
            <a:ext cx="2797446" cy="10623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94455" y="321818"/>
            <a:ext cx="4372610" cy="5029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2800" b="1" i="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IMPACTS AND BENEFITS</a:t>
            </a:r>
            <a:endParaRPr sz="2800" b="1" i="0">
              <a:solidFill>
                <a:srgbClr val="0808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0850" y="954405"/>
            <a:ext cx="3264535" cy="1052195"/>
          </a:xfrm>
          <a:prstGeom prst="roundRect">
            <a:avLst/>
          </a:prstGeom>
          <a:solidFill>
            <a:srgbClr val="FBEBF1"/>
          </a:solidFill>
          <a:ln w="12700">
            <a:solidFill>
              <a:srgbClr val="BE3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10"/>
          <p:cNvSpPr txBox="1"/>
          <p:nvPr/>
        </p:nvSpPr>
        <p:spPr>
          <a:xfrm>
            <a:off x="560070" y="1082040"/>
            <a:ext cx="2470150" cy="175895"/>
          </a:xfrm>
          <a:prstGeom prst="rect">
            <a:avLst/>
          </a:prstGeom>
          <a:noFill/>
        </p:spPr>
        <p:txBody>
          <a:bodyPr wrap="none" lIns="36576" tIns="36576" rIns="36576" bIns="36576" anchor="t">
            <a:noAutofit/>
          </a:bodyPr>
          <a:lstStyle/>
          <a:p>
            <a:pPr algn="ctr"/>
            <a:r>
              <a:rPr sz="1150" b="1" i="0">
                <a:solidFill>
                  <a:srgbClr val="BE3C37"/>
                </a:solidFill>
                <a:latin typeface="Arial Narrow" panose="020B0606020202030204"/>
              </a:rPr>
              <a:t>Economic Benefits</a:t>
            </a:r>
            <a:endParaRPr sz="1150" b="1" i="0">
              <a:solidFill>
                <a:srgbClr val="BE3C37"/>
              </a:solidFill>
              <a:latin typeface="Arial Narrow" panose="020B0606020202030204"/>
            </a:endParaRPr>
          </a:p>
        </p:txBody>
      </p:sp>
      <p:sp>
        <p:nvSpPr>
          <p:cNvPr id="9" name="TextBox 11"/>
          <p:cNvSpPr txBox="1"/>
          <p:nvPr/>
        </p:nvSpPr>
        <p:spPr>
          <a:xfrm>
            <a:off x="875030" y="1374775"/>
            <a:ext cx="2470150" cy="351155"/>
          </a:xfrm>
          <a:prstGeom prst="rect">
            <a:avLst/>
          </a:prstGeom>
          <a:noFill/>
        </p:spPr>
        <p:txBody>
          <a:bodyPr wrap="none" lIns="36576" tIns="36576" rIns="36576" bIns="36576" anchor="t">
            <a:noAutofit/>
          </a:bodyPr>
          <a:lstStyle/>
          <a:p>
            <a:pPr algn="ctr"/>
            <a:r>
              <a:rPr lang="en-US" altLang="en-US" sz="830" b="0" i="0">
                <a:solidFill>
                  <a:srgbClr val="080808"/>
                </a:solidFill>
                <a:latin typeface="Arial" panose="020B0604020202020204"/>
              </a:rPr>
              <a:t> Drastically cuts travel and consultation expenses for rural patients. </a:t>
            </a:r>
            <a:endParaRPr lang="en-US" altLang="en-US" sz="830" b="0" i="0">
              <a:solidFill>
                <a:srgbClr val="080808"/>
              </a:solidFill>
              <a:latin typeface="Arial" panose="020B0604020202020204"/>
            </a:endParaRPr>
          </a:p>
          <a:p>
            <a:pPr algn="ctr"/>
            <a:r>
              <a:rPr lang="en-US" altLang="en-US" sz="830" b="0" i="0">
                <a:solidFill>
                  <a:srgbClr val="080808"/>
                </a:solidFill>
                <a:latin typeface="Arial" panose="020B0604020202020204"/>
              </a:rPr>
              <a:t>Empowers low-cost, scalable nationwide screening.</a:t>
            </a:r>
            <a:endParaRPr lang="en-US" altLang="en-US" sz="830" b="0" i="0">
              <a:solidFill>
                <a:srgbClr val="080808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87115" y="1137285"/>
            <a:ext cx="319405" cy="319405"/>
          </a:xfrm>
          <a:prstGeom prst="rect">
            <a:avLst/>
          </a:prstGeom>
          <a:noFill/>
        </p:spPr>
        <p:txBody>
          <a:bodyPr wrap="none" lIns="36576" tIns="36576" rIns="36576" bIns="36576" anchor="t">
            <a:noAutofit/>
          </a:bodyPr>
          <a:lstStyle/>
          <a:p>
            <a:pPr algn="ctr"/>
            <a:r>
              <a:rPr sz="1800" b="1" i="0">
                <a:solidFill>
                  <a:srgbClr val="BE3C37"/>
                </a:solidFill>
                <a:latin typeface="Arial" panose="020B0604020202020204"/>
              </a:rPr>
              <a:t>₹</a:t>
            </a:r>
            <a:endParaRPr sz="1800" b="1" i="0">
              <a:solidFill>
                <a:srgbClr val="BE3C37"/>
              </a:solidFill>
              <a:latin typeface="Arial" panose="020B060402020202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382770" y="954405"/>
            <a:ext cx="3371215" cy="1021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49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1990" y="1082040"/>
            <a:ext cx="2470150" cy="175895"/>
          </a:xfrm>
          <a:prstGeom prst="rect">
            <a:avLst/>
          </a:prstGeom>
          <a:noFill/>
        </p:spPr>
        <p:txBody>
          <a:bodyPr wrap="none" lIns="36576" tIns="36576" rIns="36576" bIns="36576" anchor="t">
            <a:noAutofit/>
          </a:bodyPr>
          <a:lstStyle/>
          <a:p>
            <a:pPr algn="ctr"/>
            <a:r>
              <a:rPr sz="1150" b="1" i="0">
                <a:solidFill>
                  <a:srgbClr val="F49A31"/>
                </a:solidFill>
                <a:latin typeface="Arial Narrow" panose="020B0606020202030204"/>
              </a:rPr>
              <a:t>Social Benefits</a:t>
            </a:r>
            <a:endParaRPr sz="1150" b="1" i="0">
              <a:solidFill>
                <a:srgbClr val="F49A31"/>
              </a:solidFill>
              <a:latin typeface="Arial Narrow" panose="020B0606020202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753610" y="1374775"/>
            <a:ext cx="2470150" cy="351155"/>
          </a:xfrm>
          <a:prstGeom prst="rect">
            <a:avLst/>
          </a:prstGeom>
          <a:noFill/>
        </p:spPr>
        <p:txBody>
          <a:bodyPr wrap="none" lIns="36576" tIns="36576" rIns="36576" bIns="36576" anchor="t">
            <a:noAutofit/>
          </a:bodyPr>
          <a:lstStyle/>
          <a:p>
            <a:pPr algn="ctr"/>
            <a:r>
              <a:rPr lang="en-US" altLang="en-US" sz="830" b="0" i="0">
                <a:solidFill>
                  <a:srgbClr val="080808"/>
                </a:solidFill>
                <a:latin typeface="Arial" panose="020B0604020202020204"/>
              </a:rPr>
              <a:t>Democratizes expert ophthalmology access for 77M+ diabetics. </a:t>
            </a:r>
            <a:endParaRPr lang="en-US" altLang="en-US" sz="830" b="0" i="0">
              <a:solidFill>
                <a:srgbClr val="080808"/>
              </a:solidFill>
              <a:latin typeface="Arial" panose="020B0604020202020204"/>
            </a:endParaRPr>
          </a:p>
          <a:p>
            <a:pPr algn="ctr"/>
            <a:r>
              <a:rPr lang="en-US" altLang="en-US" sz="830" b="0" i="0">
                <a:solidFill>
                  <a:srgbClr val="080808"/>
                </a:solidFill>
                <a:latin typeface="Arial" panose="020B0604020202020204"/>
              </a:rPr>
              <a:t>Empowers local ASHA/ANM workers with actionable UI guidance.</a:t>
            </a:r>
            <a:endParaRPr lang="en-US" altLang="en-US" sz="830" b="0" i="0">
              <a:solidFill>
                <a:srgbClr val="080808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003415" y="1048385"/>
            <a:ext cx="319405" cy="319405"/>
          </a:xfrm>
          <a:prstGeom prst="rect">
            <a:avLst/>
          </a:prstGeom>
          <a:noFill/>
        </p:spPr>
        <p:txBody>
          <a:bodyPr wrap="none" lIns="36576" tIns="36576" rIns="36576" bIns="36576" anchor="t">
            <a:noAutofit/>
          </a:bodyPr>
          <a:lstStyle/>
          <a:p>
            <a:pPr algn="ctr"/>
            <a:r>
              <a:rPr sz="1800" b="1" i="0">
                <a:solidFill>
                  <a:srgbClr val="F49A31"/>
                </a:solidFill>
                <a:latin typeface="Arial" panose="020B0604020202020204"/>
              </a:rPr>
              <a:t>♥</a:t>
            </a:r>
            <a:endParaRPr sz="1800" b="1" i="0">
              <a:solidFill>
                <a:srgbClr val="F49A31"/>
              </a:solidFill>
              <a:latin typeface="Arial" panose="020B060402020202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228965" y="954405"/>
            <a:ext cx="3313430" cy="1021080"/>
          </a:xfrm>
          <a:prstGeom prst="roundRect">
            <a:avLst/>
          </a:prstGeom>
          <a:solidFill>
            <a:srgbClr val="E0F6E2"/>
          </a:solidFill>
          <a:ln w="12700">
            <a:solidFill>
              <a:srgbClr val="238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23910" y="1082040"/>
            <a:ext cx="2470150" cy="175895"/>
          </a:xfrm>
          <a:prstGeom prst="rect">
            <a:avLst/>
          </a:prstGeom>
          <a:noFill/>
        </p:spPr>
        <p:txBody>
          <a:bodyPr wrap="none" lIns="36576" tIns="36576" rIns="36576" bIns="36576" anchor="t">
            <a:noAutofit/>
          </a:bodyPr>
          <a:lstStyle/>
          <a:p>
            <a:pPr algn="ctr"/>
            <a:r>
              <a:rPr sz="1150" b="1" i="0">
                <a:solidFill>
                  <a:srgbClr val="238C56"/>
                </a:solidFill>
                <a:latin typeface="Arial Narrow" panose="020B0606020202030204"/>
              </a:rPr>
              <a:t>Environmental Benefits</a:t>
            </a:r>
            <a:endParaRPr sz="1150" b="1" i="0">
              <a:solidFill>
                <a:srgbClr val="238C56"/>
              </a:solidFill>
              <a:latin typeface="Arial Narrow" panose="020B0606020202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76640" y="1374775"/>
            <a:ext cx="2470150" cy="351155"/>
          </a:xfrm>
          <a:prstGeom prst="rect">
            <a:avLst/>
          </a:prstGeom>
          <a:noFill/>
        </p:spPr>
        <p:txBody>
          <a:bodyPr wrap="none" lIns="36576" tIns="36576" rIns="36576" bIns="36576" anchor="t">
            <a:noAutofit/>
          </a:bodyPr>
          <a:lstStyle/>
          <a:p>
            <a:pPr algn="ctr"/>
            <a:r>
              <a:rPr lang="en-US" altLang="en-US" sz="830" b="0" i="0">
                <a:solidFill>
                  <a:srgbClr val="080808"/>
                </a:solidFill>
                <a:latin typeface="Arial" panose="020B0604020202020204"/>
              </a:rPr>
              <a:t>Eliminates millions of unnecessary rural-to-urban commutes for </a:t>
            </a:r>
            <a:endParaRPr lang="en-US" altLang="en-US" sz="830" b="0" i="0">
              <a:solidFill>
                <a:srgbClr val="080808"/>
              </a:solidFill>
              <a:latin typeface="Arial" panose="020B0604020202020204"/>
            </a:endParaRPr>
          </a:p>
          <a:p>
            <a:pPr algn="ctr"/>
            <a:r>
              <a:rPr lang="en-US" altLang="en-US" sz="830" b="0" i="0">
                <a:solidFill>
                  <a:srgbClr val="080808"/>
                </a:solidFill>
                <a:latin typeface="Arial" panose="020B0604020202020204"/>
              </a:rPr>
              <a:t>healthy patients, significantly reducing the healthcare carbon footprint.</a:t>
            </a:r>
            <a:endParaRPr lang="en-US" altLang="en-US" sz="830" b="0" i="0">
              <a:solidFill>
                <a:srgbClr val="080808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042015" y="1057275"/>
            <a:ext cx="319405" cy="319405"/>
          </a:xfrm>
          <a:prstGeom prst="rect">
            <a:avLst/>
          </a:prstGeom>
          <a:noFill/>
        </p:spPr>
        <p:txBody>
          <a:bodyPr wrap="none" lIns="36576" tIns="36576" rIns="36576" bIns="36576" anchor="t">
            <a:noAutofit/>
          </a:bodyPr>
          <a:lstStyle/>
          <a:p>
            <a:pPr algn="ctr"/>
            <a:r>
              <a:rPr sz="1800" b="1" i="0">
                <a:solidFill>
                  <a:srgbClr val="238C56"/>
                </a:solidFill>
                <a:latin typeface="Arial" panose="020B0604020202020204"/>
              </a:rPr>
              <a:t>♻</a:t>
            </a:r>
            <a:endParaRPr sz="1800" b="1" i="0">
              <a:solidFill>
                <a:srgbClr val="238C56"/>
              </a:solidFill>
              <a:latin typeface="Arial" panose="020B060402020202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50850" y="2097405"/>
            <a:ext cx="1873250" cy="302895"/>
          </a:xfrm>
          <a:prstGeom prst="roundRect">
            <a:avLst/>
          </a:prstGeom>
          <a:solidFill>
            <a:srgbClr val="080808"/>
          </a:solidFill>
          <a:ln w="12700">
            <a:solidFill>
              <a:srgbClr val="080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3875" y="2106295"/>
            <a:ext cx="1745615" cy="2870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 Narrow" panose="020B0606020202030204"/>
              </a:rPr>
              <a:t>STAKEHOLDERS &amp; IMPACTS</a:t>
            </a:r>
            <a:endParaRPr sz="1200" b="1" i="0">
              <a:solidFill>
                <a:srgbClr val="FFFFFF"/>
              </a:solidFill>
              <a:latin typeface="Arial Narrow" panose="020B0606020202030204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551180" y="2691765"/>
            <a:ext cx="447040" cy="447040"/>
          </a:xfrm>
          <a:prstGeom prst="ellipse">
            <a:avLst/>
          </a:prstGeom>
          <a:solidFill>
            <a:srgbClr val="0067B4"/>
          </a:solidFill>
          <a:ln>
            <a:solidFill>
              <a:srgbClr val="00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1180" y="2764790"/>
            <a:ext cx="447040" cy="207010"/>
          </a:xfrm>
          <a:prstGeom prst="rect">
            <a:avLst/>
          </a:prstGeom>
          <a:noFill/>
        </p:spPr>
        <p:txBody>
          <a:bodyPr wrap="none" lIns="36576" tIns="36576" rIns="36576" bIns="36576" anchor="t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 Narrow" panose="020B0606020202030204"/>
              </a:rPr>
              <a:t>1</a:t>
            </a:r>
            <a:endParaRPr sz="1300" b="1" i="0">
              <a:solidFill>
                <a:srgbClr val="FFFFFF"/>
              </a:solidFill>
              <a:latin typeface="Arial Narrow" panose="020B060602020203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029970" y="2517775"/>
            <a:ext cx="1832610" cy="75755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02055" y="2600325"/>
            <a:ext cx="1530985" cy="191770"/>
          </a:xfrm>
          <a:prstGeom prst="rect">
            <a:avLst/>
          </a:prstGeom>
          <a:noFill/>
        </p:spPr>
        <p:txBody>
          <a:bodyPr wrap="none" lIns="36576" tIns="36576" rIns="36576" bIns="36576" anchor="t">
            <a:noAutofit/>
          </a:bodyPr>
          <a:lstStyle/>
          <a:p>
            <a:pPr algn="ctr"/>
            <a:r>
              <a:rPr sz="980" b="1" i="0">
                <a:solidFill>
                  <a:srgbClr val="080808"/>
                </a:solidFill>
                <a:latin typeface="Arial Narrow" panose="020B0606020202030204"/>
              </a:rPr>
              <a:t>RURAL PATIENT</a:t>
            </a:r>
            <a:endParaRPr sz="980" b="1" i="0">
              <a:solidFill>
                <a:srgbClr val="080808"/>
              </a:solidFill>
              <a:latin typeface="Arial Narrow" panose="020B0606020202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202055" y="2893060"/>
            <a:ext cx="1530985" cy="303530"/>
          </a:xfrm>
          <a:prstGeom prst="rect">
            <a:avLst/>
          </a:prstGeom>
          <a:noFill/>
        </p:spPr>
        <p:txBody>
          <a:bodyPr wrap="none" lIns="36576" tIns="36576" rIns="36576" bIns="36576" anchor="t">
            <a:noAutofit/>
          </a:bodyPr>
          <a:lstStyle/>
          <a:p>
            <a:pPr algn="ctr"/>
            <a:r>
              <a:rPr lang="en-US" altLang="en-US" sz="780" b="0" i="0">
                <a:solidFill>
                  <a:srgbClr val="080808"/>
                </a:solidFill>
                <a:latin typeface="Arial" panose="020B0604020202020204"/>
              </a:rPr>
              <a:t>Receives immediate, </a:t>
            </a:r>
            <a:endParaRPr lang="en-US" altLang="en-US" sz="780" b="0" i="0">
              <a:solidFill>
                <a:srgbClr val="080808"/>
              </a:solidFill>
              <a:latin typeface="Arial" panose="020B0604020202020204"/>
            </a:endParaRPr>
          </a:p>
          <a:p>
            <a:pPr algn="ctr"/>
            <a:r>
              <a:rPr lang="en-US" altLang="en-US" sz="780" b="0" i="0">
                <a:solidFill>
                  <a:srgbClr val="080808"/>
                </a:solidFill>
                <a:latin typeface="Arial" panose="020B0604020202020204"/>
              </a:rPr>
              <a:t>understandable triage results locally.</a:t>
            </a:r>
            <a:endParaRPr lang="en-US" altLang="en-US" sz="780" b="0" i="0">
              <a:solidFill>
                <a:srgbClr val="080808"/>
              </a:solidFill>
              <a:latin typeface="Arial" panose="020B0604020202020204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2925318" y="2947670"/>
            <a:ext cx="182245" cy="0"/>
          </a:xfrm>
          <a:prstGeom prst="line">
            <a:avLst/>
          </a:prstGeom>
          <a:ln w="25400">
            <a:solidFill>
              <a:srgbClr val="00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3118485" y="2691765"/>
            <a:ext cx="447040" cy="447040"/>
          </a:xfrm>
          <a:prstGeom prst="ellipse">
            <a:avLst/>
          </a:prstGeom>
          <a:solidFill>
            <a:srgbClr val="0067B4"/>
          </a:solidFill>
          <a:ln>
            <a:solidFill>
              <a:srgbClr val="00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18485" y="2764790"/>
            <a:ext cx="447040" cy="207010"/>
          </a:xfrm>
          <a:prstGeom prst="rect">
            <a:avLst/>
          </a:prstGeom>
          <a:noFill/>
        </p:spPr>
        <p:txBody>
          <a:bodyPr wrap="none" lIns="36576" tIns="36576" rIns="36576" bIns="36576" anchor="t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 Narrow" panose="020B0606020202030204"/>
              </a:rPr>
              <a:t>2</a:t>
            </a:r>
            <a:endParaRPr sz="1300" b="1" i="0">
              <a:solidFill>
                <a:srgbClr val="FFFFFF"/>
              </a:solidFill>
              <a:latin typeface="Arial Narrow" panose="020B060602020203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3582670" y="2517775"/>
            <a:ext cx="1811655" cy="75755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96030" y="2600325"/>
            <a:ext cx="1530985" cy="191770"/>
          </a:xfrm>
          <a:prstGeom prst="rect">
            <a:avLst/>
          </a:prstGeom>
          <a:noFill/>
        </p:spPr>
        <p:txBody>
          <a:bodyPr wrap="none" lIns="36576" tIns="36576" rIns="36576" bIns="36576" anchor="t">
            <a:noAutofit/>
          </a:bodyPr>
          <a:lstStyle/>
          <a:p>
            <a:pPr algn="ctr"/>
            <a:r>
              <a:rPr sz="980" b="1" i="0">
                <a:solidFill>
                  <a:srgbClr val="080808"/>
                </a:solidFill>
                <a:latin typeface="Arial Narrow" panose="020B0606020202030204"/>
              </a:rPr>
              <a:t>ASHA / ANM</a:t>
            </a:r>
            <a:endParaRPr sz="980" b="1" i="0">
              <a:solidFill>
                <a:srgbClr val="080808"/>
              </a:solidFill>
              <a:latin typeface="Arial Narrow" panose="020B0606020202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716020" y="2893060"/>
            <a:ext cx="1530985" cy="303530"/>
          </a:xfrm>
          <a:prstGeom prst="rect">
            <a:avLst/>
          </a:prstGeom>
          <a:noFill/>
        </p:spPr>
        <p:txBody>
          <a:bodyPr wrap="none" lIns="36576" tIns="36576" rIns="36576" bIns="36576" anchor="t">
            <a:noAutofit/>
          </a:bodyPr>
          <a:lstStyle/>
          <a:p>
            <a:pPr algn="ctr"/>
            <a:r>
              <a:rPr lang="en-US" altLang="en-US" sz="780" b="0" i="0">
                <a:solidFill>
                  <a:srgbClr val="080808"/>
                </a:solidFill>
                <a:latin typeface="Arial" panose="020B0604020202020204"/>
              </a:rPr>
              <a:t> Empowered with step-by-step camera</a:t>
            </a:r>
            <a:endParaRPr lang="en-US" altLang="en-US" sz="780" b="0" i="0">
              <a:solidFill>
                <a:srgbClr val="080808"/>
              </a:solidFill>
              <a:latin typeface="Arial" panose="020B0604020202020204"/>
            </a:endParaRPr>
          </a:p>
          <a:p>
            <a:pPr algn="ctr"/>
            <a:r>
              <a:rPr lang="en-US" altLang="en-US" sz="780" b="0" i="0">
                <a:solidFill>
                  <a:srgbClr val="080808"/>
                </a:solidFill>
                <a:latin typeface="Arial" panose="020B0604020202020204"/>
              </a:rPr>
              <a:t> adjustment guidance if a scan fails.</a:t>
            </a:r>
            <a:endParaRPr lang="en-US" altLang="en-US" sz="780" b="0" i="0">
              <a:solidFill>
                <a:srgbClr val="080808"/>
              </a:solidFill>
              <a:latin typeface="Arial" panose="020B0604020202020204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5537200" y="2947670"/>
            <a:ext cx="182245" cy="0"/>
          </a:xfrm>
          <a:prstGeom prst="line">
            <a:avLst/>
          </a:prstGeom>
          <a:ln w="25400">
            <a:solidFill>
              <a:srgbClr val="00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5721350" y="2691765"/>
            <a:ext cx="447040" cy="447040"/>
          </a:xfrm>
          <a:prstGeom prst="ellipse">
            <a:avLst/>
          </a:prstGeom>
          <a:solidFill>
            <a:srgbClr val="0067B4"/>
          </a:solidFill>
          <a:ln>
            <a:solidFill>
              <a:srgbClr val="00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21350" y="2764790"/>
            <a:ext cx="447040" cy="207010"/>
          </a:xfrm>
          <a:prstGeom prst="rect">
            <a:avLst/>
          </a:prstGeom>
          <a:noFill/>
        </p:spPr>
        <p:txBody>
          <a:bodyPr wrap="none" lIns="36576" tIns="36576" rIns="36576" bIns="36576" anchor="t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 Narrow" panose="020B0606020202030204"/>
              </a:rPr>
              <a:t>3</a:t>
            </a:r>
            <a:endParaRPr sz="1300" b="1" i="0">
              <a:solidFill>
                <a:srgbClr val="FFFFFF"/>
              </a:solidFill>
              <a:latin typeface="Arial Narrow" panose="020B0606020202030204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6186805" y="2576830"/>
            <a:ext cx="2077720" cy="698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35090" y="2600325"/>
            <a:ext cx="1530985" cy="191770"/>
          </a:xfrm>
          <a:prstGeom prst="rect">
            <a:avLst/>
          </a:prstGeom>
          <a:noFill/>
        </p:spPr>
        <p:txBody>
          <a:bodyPr wrap="none" lIns="36576" tIns="36576" rIns="36576" bIns="36576" anchor="t">
            <a:noAutofit/>
          </a:bodyPr>
          <a:lstStyle/>
          <a:p>
            <a:pPr algn="ctr"/>
            <a:r>
              <a:rPr sz="980" b="1" i="0">
                <a:solidFill>
                  <a:srgbClr val="080808"/>
                </a:solidFill>
                <a:latin typeface="Arial Narrow" panose="020B0606020202030204"/>
              </a:rPr>
              <a:t>PRIMARY HEALTH CENTER</a:t>
            </a:r>
            <a:endParaRPr sz="980" b="1" i="0">
              <a:solidFill>
                <a:srgbClr val="080808"/>
              </a:solidFill>
              <a:latin typeface="Arial Narrow" panose="020B0606020202030204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435090" y="2893060"/>
            <a:ext cx="1530985" cy="303530"/>
          </a:xfrm>
          <a:prstGeom prst="rect">
            <a:avLst/>
          </a:prstGeom>
          <a:noFill/>
        </p:spPr>
        <p:txBody>
          <a:bodyPr wrap="none" lIns="36576" tIns="36576" rIns="36576" bIns="36576" anchor="t">
            <a:noAutofit/>
          </a:bodyPr>
          <a:lstStyle/>
          <a:p>
            <a:pPr algn="ctr"/>
            <a:r>
              <a:rPr lang="en-US" altLang="en-US" sz="780" b="0" i="0">
                <a:solidFill>
                  <a:srgbClr val="080808"/>
                </a:solidFill>
                <a:latin typeface="Arial" panose="020B0604020202020204"/>
              </a:rPr>
              <a:t>Screens hundreds of patients offline with </a:t>
            </a:r>
            <a:endParaRPr lang="en-US" altLang="en-US" sz="780" b="0" i="0">
              <a:solidFill>
                <a:srgbClr val="080808"/>
              </a:solidFill>
              <a:latin typeface="Arial" panose="020B0604020202020204"/>
            </a:endParaRPr>
          </a:p>
          <a:p>
            <a:pPr algn="ctr"/>
            <a:r>
              <a:rPr lang="en-US" altLang="en-US" sz="780" b="0" i="0">
                <a:solidFill>
                  <a:srgbClr val="080808"/>
                </a:solidFill>
                <a:latin typeface="Arial" panose="020B0604020202020204"/>
              </a:rPr>
              <a:t>zero recurring software/cloud costs.</a:t>
            </a:r>
            <a:endParaRPr lang="en-US" altLang="en-US" sz="780" b="0" i="0">
              <a:solidFill>
                <a:srgbClr val="080808"/>
              </a:solidFill>
              <a:latin typeface="Arial" panose="020B0604020202020204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8389112" y="2947670"/>
            <a:ext cx="182245" cy="0"/>
          </a:xfrm>
          <a:prstGeom prst="line">
            <a:avLst/>
          </a:prstGeom>
          <a:ln w="25400">
            <a:solidFill>
              <a:srgbClr val="006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8582660" y="2691765"/>
            <a:ext cx="447040" cy="447040"/>
          </a:xfrm>
          <a:prstGeom prst="ellipse">
            <a:avLst/>
          </a:prstGeom>
          <a:solidFill>
            <a:srgbClr val="0067B4"/>
          </a:solidFill>
          <a:ln>
            <a:solidFill>
              <a:srgbClr val="00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82660" y="2764790"/>
            <a:ext cx="447040" cy="207010"/>
          </a:xfrm>
          <a:prstGeom prst="rect">
            <a:avLst/>
          </a:prstGeom>
          <a:noFill/>
        </p:spPr>
        <p:txBody>
          <a:bodyPr wrap="none" lIns="36576" tIns="36576" rIns="36576" bIns="36576" anchor="t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 Narrow" panose="020B0606020202030204"/>
              </a:rPr>
              <a:t>4</a:t>
            </a:r>
            <a:endParaRPr sz="1300" b="1" i="0">
              <a:solidFill>
                <a:srgbClr val="FFFFFF"/>
              </a:solidFill>
              <a:latin typeface="Arial Narrow" panose="020B0606020202030204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044305" y="2388235"/>
            <a:ext cx="2078355" cy="8870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35745" y="2600325"/>
            <a:ext cx="1530985" cy="191770"/>
          </a:xfrm>
          <a:prstGeom prst="rect">
            <a:avLst/>
          </a:prstGeom>
          <a:noFill/>
        </p:spPr>
        <p:txBody>
          <a:bodyPr wrap="none" lIns="36576" tIns="36576" rIns="36576" bIns="36576" anchor="t">
            <a:noAutofit/>
          </a:bodyPr>
          <a:lstStyle/>
          <a:p>
            <a:pPr algn="ctr"/>
            <a:r>
              <a:rPr sz="980" b="1" i="0">
                <a:solidFill>
                  <a:srgbClr val="080808"/>
                </a:solidFill>
                <a:latin typeface="Arial Narrow" panose="020B0606020202030204"/>
              </a:rPr>
              <a:t>OPHTHALMOLOGIST</a:t>
            </a:r>
            <a:endParaRPr sz="980" b="1" i="0">
              <a:solidFill>
                <a:srgbClr val="080808"/>
              </a:solidFill>
              <a:latin typeface="Arial Narrow" panose="020B0606020202030204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313545" y="2893060"/>
            <a:ext cx="1530985" cy="303530"/>
          </a:xfrm>
          <a:prstGeom prst="rect">
            <a:avLst/>
          </a:prstGeom>
          <a:noFill/>
        </p:spPr>
        <p:txBody>
          <a:bodyPr wrap="none" lIns="36576" tIns="36576" rIns="36576" bIns="36576" anchor="t">
            <a:noAutofit/>
          </a:bodyPr>
          <a:lstStyle/>
          <a:p>
            <a:pPr algn="ctr"/>
            <a:r>
              <a:rPr lang="en-US" altLang="en-US" sz="780" b="0" i="0">
                <a:solidFill>
                  <a:srgbClr val="080808"/>
                </a:solidFill>
                <a:latin typeface="Arial" panose="020B0604020202020204"/>
              </a:rPr>
              <a:t>Receives highly accurate, visually annotated </a:t>
            </a:r>
            <a:endParaRPr lang="en-US" altLang="en-US" sz="780" b="0" i="0">
              <a:solidFill>
                <a:srgbClr val="080808"/>
              </a:solidFill>
              <a:latin typeface="Arial" panose="020B0604020202020204"/>
            </a:endParaRPr>
          </a:p>
          <a:p>
            <a:pPr algn="ctr"/>
            <a:r>
              <a:rPr lang="en-US" altLang="en-US" sz="780" b="0" i="0">
                <a:solidFill>
                  <a:srgbClr val="080808"/>
                </a:solidFill>
                <a:latin typeface="Arial" panose="020B0604020202020204"/>
              </a:rPr>
              <a:t>referrals, saving time for critical surgeries.</a:t>
            </a:r>
            <a:endParaRPr lang="en-US" altLang="en-US" sz="780" b="0" i="0">
              <a:solidFill>
                <a:srgbClr val="080808"/>
              </a:solidFill>
              <a:latin typeface="Arial" panose="020B0604020202020204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7192645" y="3580130"/>
            <a:ext cx="1196340" cy="303530"/>
          </a:xfrm>
          <a:prstGeom prst="roundRect">
            <a:avLst/>
          </a:prstGeom>
          <a:solidFill>
            <a:srgbClr val="080808"/>
          </a:solidFill>
          <a:ln w="12700">
            <a:solidFill>
              <a:srgbClr val="080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245985" y="3596640"/>
            <a:ext cx="1068705" cy="2870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 Narrow" panose="020B0606020202030204"/>
              </a:rPr>
              <a:t>OUR PROMISE</a:t>
            </a:r>
            <a:endParaRPr sz="1200" b="1" i="0">
              <a:solidFill>
                <a:srgbClr val="FFFFFF"/>
              </a:solidFill>
              <a:latin typeface="Arial Narrow" panose="020B0606020202030204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7192645" y="3883660"/>
            <a:ext cx="3283585" cy="102044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22820" y="4078605"/>
            <a:ext cx="2908935" cy="238760"/>
          </a:xfrm>
          <a:prstGeom prst="rect">
            <a:avLst/>
          </a:prstGeom>
          <a:noFill/>
        </p:spPr>
        <p:txBody>
          <a:bodyPr wrap="none" lIns="36576" tIns="36576" rIns="36576" bIns="36576" anchor="t">
            <a:noAutofit/>
          </a:bodyPr>
          <a:lstStyle/>
          <a:p>
            <a:pPr algn="ctr"/>
            <a:r>
              <a:rPr lang="en-US" sz="1350" b="1" i="0">
                <a:solidFill>
                  <a:srgbClr val="080808"/>
                </a:solidFill>
                <a:latin typeface="Arial Narrow" panose="020B0606020202030204"/>
              </a:rPr>
              <a:t>   </a:t>
            </a:r>
            <a:r>
              <a:rPr sz="1350" b="1" i="0">
                <a:solidFill>
                  <a:srgbClr val="080808"/>
                </a:solidFill>
                <a:latin typeface="Arial Narrow" panose="020B0606020202030204"/>
              </a:rPr>
              <a:t>100% sensitivity on sight-threatening cases</a:t>
            </a:r>
            <a:r>
              <a:rPr lang="en-US" sz="1350" b="1" i="0">
                <a:solidFill>
                  <a:srgbClr val="080808"/>
                </a:solidFill>
                <a:latin typeface="Arial Narrow" panose="020B0606020202030204"/>
              </a:rPr>
              <a:t>  </a:t>
            </a:r>
            <a:endParaRPr lang="en-US" sz="1350" b="1" i="0">
              <a:solidFill>
                <a:srgbClr val="080808"/>
              </a:solidFill>
              <a:latin typeface="Arial Narrow" panose="020B0606020202030204"/>
            </a:endParaRPr>
          </a:p>
          <a:p>
            <a:pPr algn="ctr"/>
            <a:r>
              <a:rPr lang="en-US" sz="1350" b="1" i="0">
                <a:solidFill>
                  <a:srgbClr val="080808"/>
                </a:solidFill>
                <a:latin typeface="Arial Narrow" panose="020B0606020202030204"/>
              </a:rPr>
              <a:t>(severe and PDR cases).</a:t>
            </a:r>
            <a:endParaRPr lang="en-US" sz="1350" b="1" i="0">
              <a:solidFill>
                <a:srgbClr val="080808"/>
              </a:solidFill>
              <a:latin typeface="Arial Narrow" panose="020B0606020202030204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322820" y="4610100"/>
            <a:ext cx="2908935" cy="199390"/>
          </a:xfrm>
          <a:prstGeom prst="rect">
            <a:avLst/>
          </a:prstGeom>
          <a:noFill/>
        </p:spPr>
        <p:txBody>
          <a:bodyPr wrap="none" lIns="36576" tIns="36576" rIns="36576" bIns="36576" anchor="t">
            <a:noAutofit/>
          </a:bodyPr>
          <a:lstStyle/>
          <a:p>
            <a:pPr algn="ctr"/>
            <a:r>
              <a:rPr sz="1030" b="1" i="0">
                <a:solidFill>
                  <a:srgbClr val="238C56"/>
                </a:solidFill>
                <a:latin typeface="Arial Narrow" panose="020B0606020202030204"/>
              </a:rPr>
              <a:t>98% precision on healthy retinas</a:t>
            </a:r>
            <a:endParaRPr sz="1030" b="1" i="0">
              <a:solidFill>
                <a:srgbClr val="238C56"/>
              </a:solidFill>
              <a:latin typeface="Arial Narrow" panose="020B0606020202030204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7223760" y="5078095"/>
            <a:ext cx="2534285" cy="1020445"/>
          </a:xfrm>
          <a:prstGeom prst="roundRect">
            <a:avLst/>
          </a:prstGeom>
          <a:solidFill>
            <a:srgbClr val="E0F6E2"/>
          </a:solidFill>
          <a:ln w="12700">
            <a:solidFill>
              <a:srgbClr val="E0F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22820" y="5214620"/>
            <a:ext cx="836930" cy="222885"/>
          </a:xfrm>
          <a:prstGeom prst="rect">
            <a:avLst/>
          </a:prstGeom>
          <a:noFill/>
        </p:spPr>
        <p:txBody>
          <a:bodyPr wrap="none" lIns="36576" tIns="36576" rIns="36576" bIns="36576" anchor="t">
            <a:noAutofit/>
          </a:bodyPr>
          <a:lstStyle/>
          <a:p>
            <a:pPr algn="ctr"/>
            <a:r>
              <a:rPr sz="1600" b="1" i="0">
                <a:solidFill>
                  <a:srgbClr val="238C56"/>
                </a:solidFill>
                <a:latin typeface="Arial Narrow" panose="020B0606020202030204"/>
              </a:rPr>
              <a:t>SDG 3</a:t>
            </a:r>
            <a:endParaRPr sz="1600" b="1" i="0">
              <a:solidFill>
                <a:srgbClr val="238C56"/>
              </a:solidFill>
              <a:latin typeface="Arial Narrow" panose="020B0606020202030204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8466455" y="5214620"/>
            <a:ext cx="1291590" cy="183515"/>
          </a:xfrm>
          <a:prstGeom prst="rect">
            <a:avLst/>
          </a:prstGeom>
          <a:noFill/>
        </p:spPr>
        <p:txBody>
          <a:bodyPr wrap="none" lIns="36576" tIns="36576" rIns="36576" bIns="36576" anchor="t">
            <a:noAutofit/>
          </a:bodyPr>
          <a:lstStyle/>
          <a:p>
            <a:pPr algn="ctr"/>
            <a:r>
              <a:rPr sz="820" b="1" i="0">
                <a:solidFill>
                  <a:srgbClr val="080808"/>
                </a:solidFill>
                <a:latin typeface="Arial" panose="020B0604020202020204"/>
              </a:rPr>
              <a:t>Good Health &amp; Well-being</a:t>
            </a:r>
            <a:endParaRPr sz="820" b="1" i="0">
              <a:solidFill>
                <a:srgbClr val="080808"/>
              </a:solidFill>
              <a:latin typeface="Arial" panose="020B0604020202020204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7322820" y="5568315"/>
            <a:ext cx="836930" cy="222885"/>
          </a:xfrm>
          <a:prstGeom prst="rect">
            <a:avLst/>
          </a:prstGeom>
          <a:noFill/>
        </p:spPr>
        <p:txBody>
          <a:bodyPr wrap="none" lIns="36576" tIns="36576" rIns="36576" bIns="36576" anchor="t">
            <a:noAutofit/>
          </a:bodyPr>
          <a:lstStyle/>
          <a:p>
            <a:pPr algn="ctr"/>
            <a:r>
              <a:rPr sz="1600" b="1" i="0">
                <a:solidFill>
                  <a:srgbClr val="7E5EB9"/>
                </a:solidFill>
                <a:latin typeface="Arial Narrow" panose="020B0606020202030204"/>
              </a:rPr>
              <a:t>SDG 10</a:t>
            </a:r>
            <a:endParaRPr sz="1600" b="1" i="0">
              <a:solidFill>
                <a:srgbClr val="7E5EB9"/>
              </a:solidFill>
              <a:latin typeface="Arial Narrow" panose="020B0606020202030204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8423910" y="5607685"/>
            <a:ext cx="1291590" cy="183515"/>
          </a:xfrm>
          <a:prstGeom prst="rect">
            <a:avLst/>
          </a:prstGeom>
          <a:noFill/>
        </p:spPr>
        <p:txBody>
          <a:bodyPr wrap="none" lIns="36576" tIns="36576" rIns="36576" bIns="36576" anchor="t">
            <a:noAutofit/>
          </a:bodyPr>
          <a:lstStyle/>
          <a:p>
            <a:pPr algn="ctr"/>
            <a:r>
              <a:rPr sz="820" b="1" i="0">
                <a:solidFill>
                  <a:srgbClr val="080808"/>
                </a:solidFill>
                <a:latin typeface="Arial" panose="020B0604020202020204"/>
              </a:rPr>
              <a:t>Reduced Inequalities</a:t>
            </a:r>
            <a:endParaRPr sz="820" b="1" i="0">
              <a:solidFill>
                <a:srgbClr val="080808"/>
              </a:solidFill>
              <a:latin typeface="Arial" panose="020B0604020202020204"/>
            </a:endParaRPr>
          </a:p>
        </p:txBody>
      </p:sp>
      <p:pic>
        <p:nvPicPr>
          <p:cNvPr id="77" name="Picture 76" descr="visionx_four_pillars_impac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335" y="3023235"/>
            <a:ext cx="6036310" cy="3373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080895" y="219075"/>
            <a:ext cx="7178040" cy="567055"/>
          </a:xfrm>
        </p:spPr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RESEARCH  AND </a:t>
            </a:r>
            <a:r>
              <a:rPr lang="en-US" sz="28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REFERENCES</a:t>
            </a:r>
            <a:endParaRPr lang="en-US" sz="28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/>
          <p:cNvSpPr/>
          <p:nvPr/>
        </p:nvSpPr>
        <p:spPr>
          <a:xfrm>
            <a:off x="329773" y="252246"/>
            <a:ext cx="1636679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visionX</a:t>
            </a:r>
            <a:endParaRPr lang="en-IN" sz="2400" b="1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3665" y="3226"/>
            <a:ext cx="2634586" cy="1062337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580390" y="1194435"/>
            <a:ext cx="4828540" cy="491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14985" y="1139825"/>
            <a:ext cx="1421130" cy="298450"/>
          </a:xfrm>
          <a:prstGeom prst="roundRect">
            <a:avLst/>
          </a:prstGeom>
          <a:solidFill>
            <a:srgbClr val="080808"/>
          </a:solidFill>
          <a:ln w="12700">
            <a:solidFill>
              <a:srgbClr val="080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9120" y="1148715"/>
            <a:ext cx="1292860" cy="2819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 Narrow" panose="020B0606020202030204"/>
              </a:rPr>
              <a:t>CLINICAL RESEARCH</a:t>
            </a:r>
            <a:endParaRPr sz="1100" b="1" i="0">
              <a:solidFill>
                <a:srgbClr val="FFFFFF"/>
              </a:solidFill>
              <a:latin typeface="Arial Narrow" panose="020B0606020202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61365" y="1700530"/>
            <a:ext cx="4429760" cy="678180"/>
          </a:xfrm>
          <a:prstGeom prst="roundRect">
            <a:avLst/>
          </a:prstGeom>
          <a:solidFill>
            <a:srgbClr val="E1F2FC"/>
          </a:solidFill>
          <a:ln w="12700">
            <a:solidFill>
              <a:srgbClr val="E1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4375" y="1765935"/>
            <a:ext cx="1277620" cy="181610"/>
          </a:xfrm>
          <a:prstGeom prst="rect">
            <a:avLst/>
          </a:prstGeom>
          <a:noFill/>
        </p:spPr>
        <p:txBody>
          <a:bodyPr wrap="none" lIns="36576" tIns="36576" rIns="36576" bIns="36576" anchor="t">
            <a:noAutofit/>
          </a:bodyPr>
          <a:lstStyle/>
          <a:p>
            <a:pPr algn="ctr"/>
            <a:r>
              <a:rPr sz="1050" b="1" i="0">
                <a:solidFill>
                  <a:srgbClr val="0067B4"/>
                </a:solidFill>
                <a:latin typeface="Arial Narrow" panose="020B0606020202030204"/>
              </a:rPr>
              <a:t>APTOS 2019</a:t>
            </a:r>
            <a:endParaRPr sz="1050" b="1" i="0">
              <a:solidFill>
                <a:srgbClr val="0067B4"/>
              </a:solidFill>
              <a:latin typeface="Arial Narrow" panose="020B0606020202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04745" y="1757045"/>
            <a:ext cx="2633980" cy="372110"/>
          </a:xfrm>
          <a:prstGeom prst="rect">
            <a:avLst/>
          </a:prstGeom>
          <a:noFill/>
        </p:spPr>
        <p:txBody>
          <a:bodyPr wrap="none" lIns="36576" tIns="36576" rIns="36576" bIns="36576" anchor="t">
            <a:noAutofit/>
          </a:bodyPr>
          <a:lstStyle/>
          <a:p>
            <a:pPr algn="ctr"/>
            <a:r>
              <a:rPr sz="820" b="0" i="0">
                <a:solidFill>
                  <a:srgbClr val="080808"/>
                </a:solidFill>
                <a:latin typeface="Arial" panose="020B0604020202020204"/>
              </a:rPr>
              <a:t>3,662 expert-annotated color fundus images
ICDR Grades 0–4</a:t>
            </a:r>
            <a:endParaRPr sz="820" b="0" i="0">
              <a:solidFill>
                <a:srgbClr val="080808"/>
              </a:solidFill>
              <a:latin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61365" y="2633345"/>
            <a:ext cx="4429760" cy="678180"/>
          </a:xfrm>
          <a:prstGeom prst="roundRect">
            <a:avLst/>
          </a:prstGeom>
          <a:solidFill>
            <a:srgbClr val="E0F6E2"/>
          </a:solidFill>
          <a:ln w="12700">
            <a:solidFill>
              <a:srgbClr val="E0F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4375" y="2698750"/>
            <a:ext cx="1277620" cy="181610"/>
          </a:xfrm>
          <a:prstGeom prst="rect">
            <a:avLst/>
          </a:prstGeom>
          <a:noFill/>
        </p:spPr>
        <p:txBody>
          <a:bodyPr wrap="none" lIns="36576" tIns="36576" rIns="36576" bIns="36576" anchor="t">
            <a:noAutofit/>
          </a:bodyPr>
          <a:lstStyle/>
          <a:p>
            <a:pPr algn="ctr"/>
            <a:r>
              <a:rPr sz="1050" b="1" i="0">
                <a:solidFill>
                  <a:srgbClr val="238C56"/>
                </a:solidFill>
                <a:latin typeface="Arial Narrow" panose="020B0606020202030204"/>
              </a:rPr>
              <a:t>VALIDATION</a:t>
            </a:r>
            <a:endParaRPr sz="1050" b="1" i="0">
              <a:solidFill>
                <a:srgbClr val="238C56"/>
              </a:solidFill>
              <a:latin typeface="Arial Narrow" panose="020B0606020202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04745" y="2689860"/>
            <a:ext cx="2633980" cy="372110"/>
          </a:xfrm>
          <a:prstGeom prst="rect">
            <a:avLst/>
          </a:prstGeom>
          <a:noFill/>
        </p:spPr>
        <p:txBody>
          <a:bodyPr wrap="none" lIns="36576" tIns="36576" rIns="36576" bIns="36576" anchor="t">
            <a:noAutofit/>
          </a:bodyPr>
          <a:lstStyle/>
          <a:p>
            <a:pPr algn="ctr"/>
            <a:r>
              <a:rPr sz="820" b="0" i="0">
                <a:solidFill>
                  <a:srgbClr val="080808"/>
                </a:solidFill>
                <a:latin typeface="Arial" panose="020B0604020202020204"/>
              </a:rPr>
              <a:t>QWK 0.8855  •  79.95% exact accuracy
100% severe/PDR sensitivity</a:t>
            </a:r>
            <a:endParaRPr sz="820" b="0" i="0">
              <a:solidFill>
                <a:srgbClr val="080808"/>
              </a:solidFill>
              <a:latin typeface="Arial" panose="020B060402020202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61365" y="3565525"/>
            <a:ext cx="4429760" cy="6781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FF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4375" y="3630930"/>
            <a:ext cx="1277620" cy="181610"/>
          </a:xfrm>
          <a:prstGeom prst="rect">
            <a:avLst/>
          </a:prstGeom>
          <a:noFill/>
        </p:spPr>
        <p:txBody>
          <a:bodyPr wrap="none" lIns="36576" tIns="36576" rIns="36576" bIns="36576" anchor="t">
            <a:noAutofit/>
          </a:bodyPr>
          <a:lstStyle/>
          <a:p>
            <a:pPr algn="ctr"/>
            <a:r>
              <a:rPr sz="1050" b="1" i="0">
                <a:solidFill>
                  <a:srgbClr val="F49A31"/>
                </a:solidFill>
                <a:latin typeface="Arial Narrow" panose="020B0606020202030204"/>
              </a:rPr>
              <a:t>INDIA NEED SIGNAL</a:t>
            </a:r>
            <a:endParaRPr sz="1050" b="1" i="0">
              <a:solidFill>
                <a:srgbClr val="F49A31"/>
              </a:solidFill>
              <a:latin typeface="Arial Narrow" panose="020B0606020202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04745" y="3622675"/>
            <a:ext cx="2633980" cy="372110"/>
          </a:xfrm>
          <a:prstGeom prst="rect">
            <a:avLst/>
          </a:prstGeom>
          <a:noFill/>
        </p:spPr>
        <p:txBody>
          <a:bodyPr wrap="none" lIns="36576" tIns="36576" rIns="36576" bIns="36576" anchor="t">
            <a:noAutofit/>
          </a:bodyPr>
          <a:lstStyle/>
          <a:p>
            <a:pPr algn="ctr"/>
            <a:r>
              <a:rPr sz="820" b="0" i="0">
                <a:solidFill>
                  <a:srgbClr val="080808"/>
                </a:solidFill>
                <a:latin typeface="Arial" panose="020B0604020202020204"/>
              </a:rPr>
              <a:t>77M+ diagnosed diabetics
&lt;25,000 ophthalmologists</a:t>
            </a:r>
            <a:endParaRPr sz="820" b="0" i="0">
              <a:solidFill>
                <a:srgbClr val="080808"/>
              </a:solidFill>
              <a:latin typeface="Arial" panose="020B060402020202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61365" y="4498340"/>
            <a:ext cx="4429760" cy="678180"/>
          </a:xfrm>
          <a:prstGeom prst="roundRect">
            <a:avLst/>
          </a:prstGeom>
          <a:solidFill>
            <a:srgbClr val="EFE8FB"/>
          </a:solidFill>
          <a:ln w="12700">
            <a:solidFill>
              <a:srgbClr val="EFE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4375" y="4563745"/>
            <a:ext cx="1277620" cy="181610"/>
          </a:xfrm>
          <a:prstGeom prst="rect">
            <a:avLst/>
          </a:prstGeom>
          <a:noFill/>
        </p:spPr>
        <p:txBody>
          <a:bodyPr wrap="none" lIns="36576" tIns="36576" rIns="36576" bIns="36576" anchor="t">
            <a:noAutofit/>
          </a:bodyPr>
          <a:lstStyle/>
          <a:p>
            <a:pPr algn="ctr"/>
            <a:r>
              <a:rPr sz="1050" b="1" i="0">
                <a:solidFill>
                  <a:srgbClr val="7E5EB9"/>
                </a:solidFill>
                <a:latin typeface="Arial Narrow" panose="020B0606020202030204"/>
              </a:rPr>
              <a:t>CLINICAL CONVENTIONS</a:t>
            </a:r>
            <a:endParaRPr sz="1050" b="1" i="0">
              <a:solidFill>
                <a:srgbClr val="7E5EB9"/>
              </a:solidFill>
              <a:latin typeface="Arial Narrow" panose="020B0606020202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404745" y="4554855"/>
            <a:ext cx="2633980" cy="372110"/>
          </a:xfrm>
          <a:prstGeom prst="rect">
            <a:avLst/>
          </a:prstGeom>
          <a:noFill/>
        </p:spPr>
        <p:txBody>
          <a:bodyPr wrap="none" lIns="36576" tIns="36576" rIns="36576" bIns="36576" anchor="t">
            <a:noAutofit/>
          </a:bodyPr>
          <a:lstStyle/>
          <a:p>
            <a:pPr algn="ctr"/>
            <a:r>
              <a:rPr sz="820" b="0" i="0">
                <a:solidFill>
                  <a:srgbClr val="080808"/>
                </a:solidFill>
                <a:latin typeface="Arial" panose="020B0604020202020204"/>
              </a:rPr>
              <a:t>AAO  •  ICO  •  ETDRS
Severity grading terminology</a:t>
            </a:r>
            <a:endParaRPr sz="820" b="0" i="0">
              <a:solidFill>
                <a:srgbClr val="080808"/>
              </a:solidFill>
              <a:latin typeface="Arial" panose="020B060402020202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74980" y="5409565"/>
            <a:ext cx="878840" cy="281940"/>
          </a:xfrm>
          <a:prstGeom prst="roundRect">
            <a:avLst/>
          </a:prstGeom>
          <a:solidFill>
            <a:srgbClr val="080808"/>
          </a:solidFill>
          <a:ln w="12700">
            <a:solidFill>
              <a:srgbClr val="080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115" y="5418455"/>
            <a:ext cx="750570" cy="264160"/>
          </a:xfrm>
          <a:prstGeom prst="rect">
            <a:avLst/>
          </a:prstGeom>
          <a:noFill/>
        </p:spPr>
        <p:txBody>
          <a:bodyPr wrap="none" lIns="36576" tIns="36576" rIns="36576" bIns="36576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 Narrow" panose="020B0606020202030204"/>
              </a:rPr>
              <a:t>AI / XAI</a:t>
            </a:r>
            <a:endParaRPr sz="1100" b="1" i="0">
              <a:solidFill>
                <a:srgbClr val="FFFFFF"/>
              </a:solidFill>
              <a:latin typeface="Arial Narrow" panose="020B0606020202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88365" y="5796280"/>
            <a:ext cx="1996440" cy="166370"/>
          </a:xfrm>
          <a:prstGeom prst="rect">
            <a:avLst/>
          </a:prstGeom>
          <a:noFill/>
        </p:spPr>
        <p:txBody>
          <a:bodyPr wrap="none" lIns="36576" tIns="36576" rIns="36576" bIns="36576" anchor="t">
            <a:noAutofit/>
          </a:bodyPr>
          <a:lstStyle/>
          <a:p>
            <a:pPr algn="l"/>
            <a:r>
              <a:rPr sz="840" b="1" i="0">
                <a:solidFill>
                  <a:srgbClr val="080808"/>
                </a:solidFill>
                <a:latin typeface="Arial" panose="020B0604020202020204"/>
              </a:rPr>
              <a:t>ResNet-50 — He et al. (2016)</a:t>
            </a:r>
            <a:endParaRPr sz="840" b="1" i="0">
              <a:solidFill>
                <a:srgbClr val="080808"/>
              </a:solidFill>
              <a:latin typeface="Arial" panose="020B0604020202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942590" y="5796280"/>
            <a:ext cx="2115820" cy="166370"/>
          </a:xfrm>
          <a:prstGeom prst="rect">
            <a:avLst/>
          </a:prstGeom>
          <a:noFill/>
        </p:spPr>
        <p:txBody>
          <a:bodyPr wrap="none" lIns="36576" tIns="36576" rIns="36576" bIns="36576" anchor="t">
            <a:noAutofit/>
          </a:bodyPr>
          <a:lstStyle/>
          <a:p>
            <a:pPr algn="l"/>
            <a:r>
              <a:rPr sz="840" b="1" i="0">
                <a:solidFill>
                  <a:srgbClr val="080808"/>
                </a:solidFill>
                <a:latin typeface="Arial" panose="020B0604020202020204"/>
              </a:rPr>
              <a:t>Grad-CAM — Selvaraju et al. (2017)</a:t>
            </a:r>
            <a:endParaRPr sz="840" b="1" i="0">
              <a:solidFill>
                <a:srgbClr val="080808"/>
              </a:solidFill>
              <a:latin typeface="Arial" panose="020B0604020202020204"/>
            </a:endParaRPr>
          </a:p>
        </p:txBody>
      </p:sp>
      <p:sp>
        <p:nvSpPr>
          <p:cNvPr id="5" name="TextBox 9"/>
          <p:cNvSpPr txBox="1"/>
          <p:nvPr/>
        </p:nvSpPr>
        <p:spPr>
          <a:xfrm>
            <a:off x="3124200" y="737108"/>
            <a:ext cx="5486400" cy="29260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250" b="1" i="0">
                <a:solidFill>
                  <a:srgbClr val="0067B4"/>
                </a:solidFill>
                <a:latin typeface="Arial" panose="020B0604020202020204"/>
              </a:rPr>
              <a:t>Evidence trail behind the VisionX system</a:t>
            </a:r>
            <a:endParaRPr sz="1250" b="1" i="0">
              <a:solidFill>
                <a:srgbClr val="0067B4"/>
              </a:solidFill>
              <a:latin typeface="Arial" panose="020B0604020202020204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6182995" y="1106805"/>
            <a:ext cx="5575300" cy="5092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6222365" y="1134745"/>
            <a:ext cx="1033780" cy="308610"/>
          </a:xfrm>
          <a:prstGeom prst="roundRect">
            <a:avLst/>
          </a:prstGeom>
          <a:solidFill>
            <a:srgbClr val="080808"/>
          </a:solidFill>
          <a:ln w="12700">
            <a:solidFill>
              <a:srgbClr val="080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31"/>
          <p:cNvSpPr txBox="1"/>
          <p:nvPr/>
        </p:nvSpPr>
        <p:spPr>
          <a:xfrm>
            <a:off x="6289675" y="1143635"/>
            <a:ext cx="899160" cy="292100"/>
          </a:xfrm>
          <a:prstGeom prst="rect">
            <a:avLst/>
          </a:prstGeom>
          <a:noFill/>
        </p:spPr>
        <p:txBody>
          <a:bodyPr wrap="none" lIns="36576" tIns="36576" rIns="36576" bIns="36576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 Narrow" panose="020B0606020202030204"/>
              </a:rPr>
              <a:t>OUR WORKS</a:t>
            </a:r>
            <a:endParaRPr sz="1100" b="1" i="0">
              <a:solidFill>
                <a:srgbClr val="FFFFFF"/>
              </a:solidFill>
              <a:latin typeface="Arial Narrow" panose="020B0606020202030204"/>
            </a:endParaRPr>
          </a:p>
        </p:txBody>
      </p:sp>
      <p:sp>
        <p:nvSpPr>
          <p:cNvPr id="83" name="Rounded Rectangle 82"/>
          <p:cNvSpPr/>
          <p:nvPr/>
        </p:nvSpPr>
        <p:spPr>
          <a:xfrm>
            <a:off x="6292850" y="1689100"/>
            <a:ext cx="2355850" cy="736600"/>
          </a:xfrm>
          <a:prstGeom prst="roundRect">
            <a:avLst/>
          </a:prstGeom>
          <a:solidFill>
            <a:srgbClr val="E0F6E2"/>
          </a:solidFill>
          <a:ln w="12700">
            <a:solidFill>
              <a:srgbClr val="E0F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33"/>
          <p:cNvSpPr txBox="1"/>
          <p:nvPr/>
        </p:nvSpPr>
        <p:spPr>
          <a:xfrm>
            <a:off x="6419850" y="1798955"/>
            <a:ext cx="2101850" cy="196850"/>
          </a:xfrm>
          <a:prstGeom prst="rect">
            <a:avLst/>
          </a:prstGeom>
          <a:noFill/>
        </p:spPr>
        <p:txBody>
          <a:bodyPr wrap="none" lIns="36576" tIns="36576" rIns="36576" bIns="36576" anchor="t">
            <a:noAutofit/>
          </a:bodyPr>
          <a:lstStyle/>
          <a:p>
            <a:pPr algn="ctr"/>
            <a:r>
              <a:rPr sz="1200" b="1" i="0">
                <a:solidFill>
                  <a:srgbClr val="238C56"/>
                </a:solidFill>
                <a:latin typeface="Arial Narrow" panose="020B0606020202030204"/>
              </a:rPr>
              <a:t>GitHub</a:t>
            </a:r>
            <a:endParaRPr sz="1200" b="1" i="0">
              <a:solidFill>
                <a:srgbClr val="238C56"/>
              </a:solidFill>
              <a:latin typeface="Arial Narrow" panose="020B0606020202030204"/>
            </a:endParaRPr>
          </a:p>
        </p:txBody>
      </p:sp>
      <p:sp>
        <p:nvSpPr>
          <p:cNvPr id="85" name="TextBox 34"/>
          <p:cNvSpPr txBox="1"/>
          <p:nvPr/>
        </p:nvSpPr>
        <p:spPr>
          <a:xfrm>
            <a:off x="6445250" y="2091690"/>
            <a:ext cx="2051050" cy="214630"/>
          </a:xfrm>
          <a:prstGeom prst="rect">
            <a:avLst/>
          </a:prstGeom>
          <a:noFill/>
        </p:spPr>
        <p:txBody>
          <a:bodyPr wrap="none" lIns="36576" tIns="36576" rIns="36576" bIns="36576" anchor="t">
            <a:noAutofit/>
          </a:bodyPr>
          <a:lstStyle/>
          <a:p>
            <a:pPr algn="ctr"/>
            <a:r>
              <a:rPr sz="760" b="0" i="0">
                <a:solidFill>
                  <a:srgbClr val="080808"/>
                </a:solidFill>
                <a:latin typeface="Arial" panose="020B0604020202020204"/>
              </a:rPr>
              <a:t>Project source + implementation</a:t>
            </a:r>
            <a:endParaRPr sz="760" b="0" i="0">
              <a:solidFill>
                <a:srgbClr val="080808"/>
              </a:solidFill>
              <a:latin typeface="Arial" panose="020B0604020202020204"/>
            </a:endParaRPr>
          </a:p>
        </p:txBody>
      </p:sp>
      <p:sp>
        <p:nvSpPr>
          <p:cNvPr id="86" name="Rounded Rectangle 85"/>
          <p:cNvSpPr/>
          <p:nvPr/>
        </p:nvSpPr>
        <p:spPr>
          <a:xfrm>
            <a:off x="9081770" y="1689100"/>
            <a:ext cx="2355850" cy="736600"/>
          </a:xfrm>
          <a:prstGeom prst="roundRect">
            <a:avLst/>
          </a:prstGeom>
          <a:solidFill>
            <a:srgbClr val="E1F2FC"/>
          </a:solidFill>
          <a:ln w="12700">
            <a:solidFill>
              <a:srgbClr val="E1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36"/>
          <p:cNvSpPr txBox="1"/>
          <p:nvPr/>
        </p:nvSpPr>
        <p:spPr>
          <a:xfrm>
            <a:off x="9208770" y="1798955"/>
            <a:ext cx="2101850" cy="196850"/>
          </a:xfrm>
          <a:prstGeom prst="rect">
            <a:avLst/>
          </a:prstGeom>
          <a:noFill/>
        </p:spPr>
        <p:txBody>
          <a:bodyPr wrap="none" lIns="36576" tIns="36576" rIns="36576" bIns="36576" anchor="t">
            <a:noAutofit/>
          </a:bodyPr>
          <a:lstStyle/>
          <a:p>
            <a:pPr algn="ctr"/>
            <a:r>
              <a:rPr sz="1200" b="1" i="0">
                <a:solidFill>
                  <a:srgbClr val="0067B4"/>
                </a:solidFill>
                <a:latin typeface="Arial Narrow" panose="020B0606020202030204"/>
              </a:rPr>
              <a:t>Project Proof</a:t>
            </a:r>
            <a:endParaRPr sz="1200" b="1" i="0">
              <a:solidFill>
                <a:srgbClr val="0067B4"/>
              </a:solidFill>
              <a:latin typeface="Arial Narrow" panose="020B0606020202030204"/>
            </a:endParaRPr>
          </a:p>
        </p:txBody>
      </p:sp>
      <p:sp>
        <p:nvSpPr>
          <p:cNvPr id="88" name="TextBox 37"/>
          <p:cNvSpPr txBox="1"/>
          <p:nvPr/>
        </p:nvSpPr>
        <p:spPr>
          <a:xfrm>
            <a:off x="9234170" y="2091690"/>
            <a:ext cx="2051050" cy="214630"/>
          </a:xfrm>
          <a:prstGeom prst="rect">
            <a:avLst/>
          </a:prstGeom>
          <a:noFill/>
        </p:spPr>
        <p:txBody>
          <a:bodyPr wrap="none" lIns="36576" tIns="36576" rIns="36576" bIns="36576" anchor="t">
            <a:noAutofit/>
          </a:bodyPr>
          <a:lstStyle/>
          <a:p>
            <a:pPr algn="ctr"/>
            <a:r>
              <a:rPr sz="760" b="0" i="0">
                <a:solidFill>
                  <a:srgbClr val="080808"/>
                </a:solidFill>
                <a:latin typeface="Arial" panose="020B0604020202020204"/>
              </a:rPr>
              <a:t>Validation outputs + generated reports</a:t>
            </a:r>
            <a:endParaRPr sz="760" b="0" i="0">
              <a:solidFill>
                <a:srgbClr val="080808"/>
              </a:solidFill>
              <a:latin typeface="Arial" panose="020B0604020202020204"/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6292850" y="2793365"/>
            <a:ext cx="2355850" cy="942340"/>
          </a:xfrm>
          <a:prstGeom prst="roundRect">
            <a:avLst/>
          </a:prstGeom>
          <a:solidFill>
            <a:srgbClr val="F1F8FD"/>
          </a:solidFill>
          <a:ln w="10160">
            <a:solidFill>
              <a:srgbClr val="00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39"/>
          <p:cNvSpPr txBox="1"/>
          <p:nvPr/>
        </p:nvSpPr>
        <p:spPr>
          <a:xfrm>
            <a:off x="6377940" y="2858770"/>
            <a:ext cx="2185670" cy="171450"/>
          </a:xfrm>
          <a:prstGeom prst="rect">
            <a:avLst/>
          </a:prstGeom>
          <a:noFill/>
        </p:spPr>
        <p:txBody>
          <a:bodyPr wrap="none" lIns="36576" tIns="36576" rIns="36576" bIns="36576" anchor="t">
            <a:noAutofit/>
          </a:bodyPr>
          <a:lstStyle/>
          <a:p>
            <a:pPr algn="ctr"/>
            <a:r>
              <a:rPr sz="880" b="1" i="0">
                <a:solidFill>
                  <a:srgbClr val="080808"/>
                </a:solidFill>
                <a:latin typeface="Arial Narrow" panose="020B0606020202030204"/>
              </a:rPr>
              <a:t>DATASET / BENCHMARKS</a:t>
            </a:r>
            <a:endParaRPr sz="880" b="1" i="0">
              <a:solidFill>
                <a:srgbClr val="080808"/>
              </a:solidFill>
              <a:latin typeface="Arial Narrow" panose="020B0606020202030204"/>
            </a:endParaRPr>
          </a:p>
        </p:txBody>
      </p:sp>
      <p:sp>
        <p:nvSpPr>
          <p:cNvPr id="91" name="TextBox 40"/>
          <p:cNvSpPr txBox="1"/>
          <p:nvPr/>
        </p:nvSpPr>
        <p:spPr>
          <a:xfrm>
            <a:off x="6436360" y="3127375"/>
            <a:ext cx="2068830" cy="530860"/>
          </a:xfrm>
          <a:prstGeom prst="rect">
            <a:avLst/>
          </a:prstGeom>
          <a:noFill/>
        </p:spPr>
        <p:txBody>
          <a:bodyPr wrap="none" lIns="27432" tIns="27432" rIns="27432" bIns="27432">
            <a:no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720">
                <a:solidFill>
                  <a:srgbClr val="080808"/>
                </a:solidFill>
                <a:latin typeface="Arial" panose="020B0604020202020204"/>
              </a:defRPr>
            </a:pPr>
            <a:r>
              <a:t>• APTOS 2019 Blindness Detection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720">
                <a:solidFill>
                  <a:srgbClr val="080808"/>
                </a:solidFill>
                <a:latin typeface="Arial" panose="020B0604020202020204"/>
              </a:defRPr>
            </a:pPr>
            <a:r>
              <a:t>• Messidor-2 &amp; IDRiD benchmarks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9081770" y="2793365"/>
            <a:ext cx="2355850" cy="942340"/>
          </a:xfrm>
          <a:prstGeom prst="roundRect">
            <a:avLst/>
          </a:prstGeom>
          <a:solidFill>
            <a:srgbClr val="EFE8FB"/>
          </a:solidFill>
          <a:ln w="10160">
            <a:solidFill>
              <a:srgbClr val="7E5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42"/>
          <p:cNvSpPr txBox="1"/>
          <p:nvPr/>
        </p:nvSpPr>
        <p:spPr>
          <a:xfrm>
            <a:off x="9166860" y="2858770"/>
            <a:ext cx="2185670" cy="171450"/>
          </a:xfrm>
          <a:prstGeom prst="rect">
            <a:avLst/>
          </a:prstGeom>
          <a:noFill/>
        </p:spPr>
        <p:txBody>
          <a:bodyPr wrap="none" lIns="36576" tIns="36576" rIns="36576" bIns="36576" anchor="t">
            <a:noAutofit/>
          </a:bodyPr>
          <a:lstStyle/>
          <a:p>
            <a:pPr algn="ctr"/>
            <a:r>
              <a:rPr sz="880" b="1" i="0">
                <a:solidFill>
                  <a:srgbClr val="080808"/>
                </a:solidFill>
                <a:latin typeface="Arial Narrow" panose="020B0606020202030204"/>
              </a:rPr>
              <a:t>DEEP LEARNING</a:t>
            </a:r>
            <a:endParaRPr sz="880" b="1" i="0">
              <a:solidFill>
                <a:srgbClr val="080808"/>
              </a:solidFill>
              <a:latin typeface="Arial Narrow" panose="020B0606020202030204"/>
            </a:endParaRPr>
          </a:p>
        </p:txBody>
      </p:sp>
      <p:sp>
        <p:nvSpPr>
          <p:cNvPr id="94" name="TextBox 43"/>
          <p:cNvSpPr txBox="1"/>
          <p:nvPr/>
        </p:nvSpPr>
        <p:spPr>
          <a:xfrm>
            <a:off x="9225280" y="3127375"/>
            <a:ext cx="2068830" cy="530860"/>
          </a:xfrm>
          <a:prstGeom prst="rect">
            <a:avLst/>
          </a:prstGeom>
          <a:noFill/>
        </p:spPr>
        <p:txBody>
          <a:bodyPr wrap="none" lIns="27432" tIns="27432" rIns="27432" bIns="27432">
            <a:no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720">
                <a:solidFill>
                  <a:srgbClr val="080808"/>
                </a:solidFill>
                <a:latin typeface="Arial" panose="020B0604020202020204"/>
              </a:defRPr>
            </a:pPr>
            <a:r>
              <a:t>• He, Zhang, Ren &amp; Sun — Deep Residual Learning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720">
                <a:solidFill>
                  <a:srgbClr val="080808"/>
                </a:solidFill>
                <a:latin typeface="Arial" panose="020B0604020202020204"/>
              </a:defRPr>
            </a:pPr>
            <a:r>
              <a:t>• Selvaraju et al. — Grad-CAM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292850" y="4009390"/>
            <a:ext cx="2355850" cy="942340"/>
          </a:xfrm>
          <a:prstGeom prst="roundRect">
            <a:avLst/>
          </a:prstGeom>
          <a:solidFill>
            <a:srgbClr val="F1F8FD"/>
          </a:solidFill>
          <a:ln w="10160">
            <a:solidFill>
              <a:srgbClr val="006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45"/>
          <p:cNvSpPr txBox="1"/>
          <p:nvPr/>
        </p:nvSpPr>
        <p:spPr>
          <a:xfrm>
            <a:off x="6377940" y="4074795"/>
            <a:ext cx="2185670" cy="171450"/>
          </a:xfrm>
          <a:prstGeom prst="rect">
            <a:avLst/>
          </a:prstGeom>
          <a:noFill/>
        </p:spPr>
        <p:txBody>
          <a:bodyPr wrap="none" lIns="36576" tIns="36576" rIns="36576" bIns="36576" anchor="t">
            <a:noAutofit/>
          </a:bodyPr>
          <a:lstStyle/>
          <a:p>
            <a:pPr algn="ctr"/>
            <a:r>
              <a:rPr sz="880" b="1" i="0">
                <a:solidFill>
                  <a:srgbClr val="080808"/>
                </a:solidFill>
                <a:latin typeface="Arial Narrow" panose="020B0606020202030204"/>
              </a:rPr>
              <a:t>PREPROCESSING</a:t>
            </a:r>
            <a:endParaRPr sz="880" b="1" i="0">
              <a:solidFill>
                <a:srgbClr val="080808"/>
              </a:solidFill>
              <a:latin typeface="Arial Narrow" panose="020B0606020202030204"/>
            </a:endParaRPr>
          </a:p>
        </p:txBody>
      </p:sp>
      <p:sp>
        <p:nvSpPr>
          <p:cNvPr id="97" name="TextBox 46"/>
          <p:cNvSpPr txBox="1"/>
          <p:nvPr/>
        </p:nvSpPr>
        <p:spPr>
          <a:xfrm>
            <a:off x="6436360" y="4343400"/>
            <a:ext cx="2068830" cy="530860"/>
          </a:xfrm>
          <a:prstGeom prst="rect">
            <a:avLst/>
          </a:prstGeom>
          <a:noFill/>
        </p:spPr>
        <p:txBody>
          <a:bodyPr wrap="none" lIns="27432" tIns="27432" rIns="27432" bIns="27432">
            <a:no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720">
                <a:solidFill>
                  <a:srgbClr val="080808"/>
                </a:solidFill>
                <a:latin typeface="Arial" panose="020B0604020202020204"/>
              </a:defRPr>
            </a:pPr>
            <a:r>
              <a:t>• Ben Graham — DR competition winner's report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720">
                <a:solidFill>
                  <a:srgbClr val="080808"/>
                </a:solidFill>
                <a:latin typeface="Arial" panose="020B0604020202020204"/>
              </a:defRPr>
            </a:pPr>
            <a:r>
              <a:t>• OpenCV CLAHE / normalization pipeline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9081770" y="4009390"/>
            <a:ext cx="2355850" cy="942340"/>
          </a:xfrm>
          <a:prstGeom prst="roundRect">
            <a:avLst/>
          </a:prstGeom>
          <a:solidFill>
            <a:srgbClr val="EFE8FB"/>
          </a:solidFill>
          <a:ln w="10160">
            <a:solidFill>
              <a:srgbClr val="7E5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48"/>
          <p:cNvSpPr txBox="1"/>
          <p:nvPr/>
        </p:nvSpPr>
        <p:spPr>
          <a:xfrm>
            <a:off x="9166860" y="4074795"/>
            <a:ext cx="2185670" cy="171450"/>
          </a:xfrm>
          <a:prstGeom prst="rect">
            <a:avLst/>
          </a:prstGeom>
          <a:noFill/>
        </p:spPr>
        <p:txBody>
          <a:bodyPr wrap="none" lIns="36576" tIns="36576" rIns="36576" bIns="36576" anchor="t">
            <a:noAutofit/>
          </a:bodyPr>
          <a:lstStyle/>
          <a:p>
            <a:pPr algn="ctr"/>
            <a:r>
              <a:rPr sz="880" b="1" i="0">
                <a:solidFill>
                  <a:srgbClr val="080808"/>
                </a:solidFill>
                <a:latin typeface="Arial Narrow" panose="020B0606020202030204"/>
              </a:rPr>
              <a:t>CLINICAL GUIDELINES</a:t>
            </a:r>
            <a:endParaRPr sz="880" b="1" i="0">
              <a:solidFill>
                <a:srgbClr val="080808"/>
              </a:solidFill>
              <a:latin typeface="Arial Narrow" panose="020B0606020202030204"/>
            </a:endParaRPr>
          </a:p>
        </p:txBody>
      </p:sp>
      <p:sp>
        <p:nvSpPr>
          <p:cNvPr id="100" name="TextBox 49"/>
          <p:cNvSpPr txBox="1"/>
          <p:nvPr/>
        </p:nvSpPr>
        <p:spPr>
          <a:xfrm>
            <a:off x="9225280" y="4343400"/>
            <a:ext cx="2068830" cy="530860"/>
          </a:xfrm>
          <a:prstGeom prst="rect">
            <a:avLst/>
          </a:prstGeom>
          <a:noFill/>
        </p:spPr>
        <p:txBody>
          <a:bodyPr wrap="none" lIns="27432" tIns="27432" rIns="27432" bIns="27432">
            <a:no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720">
                <a:solidFill>
                  <a:srgbClr val="080808"/>
                </a:solidFill>
                <a:latin typeface="Arial" panose="020B0604020202020204"/>
              </a:defRPr>
            </a:pPr>
            <a:r>
              <a:t>• American Academy of Ophthalmology (AAO)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720">
                <a:solidFill>
                  <a:srgbClr val="080808"/>
                </a:solidFill>
                <a:latin typeface="Arial" panose="020B0604020202020204"/>
              </a:defRPr>
            </a:pPr>
            <a:r>
              <a:t>• International Council of Ophthalmology (ICO)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720">
                <a:solidFill>
                  <a:srgbClr val="080808"/>
                </a:solidFill>
                <a:latin typeface="Arial" panose="020B0604020202020204"/>
              </a:defRPr>
            </a:pPr>
            <a:r>
              <a:t>• ETDRS Research Group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395085" y="5283835"/>
            <a:ext cx="4940300" cy="75311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FF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51"/>
          <p:cNvSpPr txBox="1"/>
          <p:nvPr/>
        </p:nvSpPr>
        <p:spPr>
          <a:xfrm>
            <a:off x="6398260" y="5382260"/>
            <a:ext cx="1102360" cy="171450"/>
          </a:xfrm>
          <a:prstGeom prst="rect">
            <a:avLst/>
          </a:prstGeom>
          <a:noFill/>
        </p:spPr>
        <p:txBody>
          <a:bodyPr wrap="none" lIns="36576" tIns="36576" rIns="36576" bIns="36576" anchor="t">
            <a:noAutofit/>
          </a:bodyPr>
          <a:lstStyle/>
          <a:p>
            <a:pPr algn="l"/>
            <a:r>
              <a:rPr sz="920" b="1" i="0">
                <a:solidFill>
                  <a:srgbClr val="F49A31"/>
                </a:solidFill>
                <a:latin typeface="Arial Narrow" panose="020B0606020202030204"/>
              </a:rPr>
              <a:t>PROJECT PROOF</a:t>
            </a:r>
            <a:endParaRPr sz="920" b="1" i="0">
              <a:solidFill>
                <a:srgbClr val="F49A31"/>
              </a:solidFill>
              <a:latin typeface="Arial Narrow" panose="020B0606020202030204"/>
            </a:endParaRPr>
          </a:p>
        </p:txBody>
      </p:sp>
      <p:sp>
        <p:nvSpPr>
          <p:cNvPr id="103" name="TextBox 52"/>
          <p:cNvSpPr txBox="1"/>
          <p:nvPr/>
        </p:nvSpPr>
        <p:spPr>
          <a:xfrm>
            <a:off x="7513320" y="5382260"/>
            <a:ext cx="3542030" cy="171450"/>
          </a:xfrm>
          <a:prstGeom prst="rect">
            <a:avLst/>
          </a:prstGeom>
          <a:noFill/>
        </p:spPr>
        <p:txBody>
          <a:bodyPr wrap="none" lIns="36576" tIns="36576" rIns="36576" bIns="36576" anchor="t">
            <a:noAutofit/>
          </a:bodyPr>
          <a:lstStyle/>
          <a:p>
            <a:pPr algn="ctr"/>
            <a:r>
              <a:rPr sz="780" b="1" i="0">
                <a:solidFill>
                  <a:srgbClr val="080808"/>
                </a:solidFill>
                <a:latin typeface="Arial" panose="020B0604020202020204"/>
              </a:rPr>
              <a:t>Validation split: 733 images   •   QWK: 0.8855   •   Accuracy: 79.95%</a:t>
            </a:r>
            <a:endParaRPr sz="780" b="1" i="0">
              <a:solidFill>
                <a:srgbClr val="080808"/>
              </a:solidFill>
              <a:latin typeface="Arial" panose="020B0604020202020204"/>
            </a:endParaRPr>
          </a:p>
        </p:txBody>
      </p:sp>
      <p:sp>
        <p:nvSpPr>
          <p:cNvPr id="104" name="TextBox 53"/>
          <p:cNvSpPr txBox="1"/>
          <p:nvPr/>
        </p:nvSpPr>
        <p:spPr>
          <a:xfrm>
            <a:off x="7486650" y="5559425"/>
            <a:ext cx="3542030" cy="153670"/>
          </a:xfrm>
          <a:prstGeom prst="rect">
            <a:avLst/>
          </a:prstGeom>
          <a:noFill/>
        </p:spPr>
        <p:txBody>
          <a:bodyPr wrap="none" lIns="36576" tIns="36576" rIns="36576" bIns="36576" anchor="t">
            <a:noAutofit/>
          </a:bodyPr>
          <a:lstStyle/>
          <a:p>
            <a:pPr algn="ctr"/>
            <a:r>
              <a:rPr sz="750" b="0" i="0">
                <a:solidFill>
                  <a:srgbClr val="0067B4"/>
                </a:solidFill>
                <a:latin typeface="Arial" panose="020B0604020202020204"/>
              </a:rPr>
              <a:t>github.com/Boobathi-V/SIH_2026.git</a:t>
            </a:r>
            <a:endParaRPr sz="750" b="0" i="0">
              <a:solidFill>
                <a:srgbClr val="0067B4"/>
              </a:solidFill>
              <a:latin typeface="Arial" panose="020B0604020202020204"/>
            </a:endParaRPr>
          </a:p>
        </p:txBody>
      </p:sp>
      <p:sp>
        <p:nvSpPr>
          <p:cNvPr id="105" name="TextBox 54"/>
          <p:cNvSpPr txBox="1"/>
          <p:nvPr/>
        </p:nvSpPr>
        <p:spPr>
          <a:xfrm>
            <a:off x="6645275" y="5791200"/>
            <a:ext cx="4644390" cy="187960"/>
          </a:xfrm>
          <a:prstGeom prst="rect">
            <a:avLst/>
          </a:prstGeom>
          <a:noFill/>
        </p:spPr>
        <p:txBody>
          <a:bodyPr wrap="none" lIns="36576" tIns="36576" rIns="36576" bIns="36576" anchor="t">
            <a:noAutofit/>
          </a:bodyPr>
          <a:lstStyle/>
          <a:p>
            <a:pPr algn="ctr"/>
            <a:r>
              <a:rPr sz="980" b="1" i="0">
                <a:solidFill>
                  <a:srgbClr val="080808"/>
                </a:solidFill>
                <a:latin typeface="Arial Narrow" panose="020B0606020202030204"/>
              </a:rPr>
              <a:t>Need → Quality → AI → Evidence → Offline Action</a:t>
            </a:r>
            <a:endParaRPr sz="980" b="1" i="0">
              <a:solidFill>
                <a:srgbClr val="080808"/>
              </a:solidFill>
              <a:latin typeface="Arial Narrow" panose="020B0606020202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4579</Words>
  <Application>WPS Presentation</Application>
  <PresentationFormat>Widescreen</PresentationFormat>
  <Paragraphs>343</Paragraphs>
  <Slides>6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5" baseType="lpstr">
      <vt:lpstr>Arial</vt:lpstr>
      <vt:lpstr>SimSun</vt:lpstr>
      <vt:lpstr>Wingdings</vt:lpstr>
      <vt:lpstr>Calibri</vt:lpstr>
      <vt:lpstr>MS PGothic</vt:lpstr>
      <vt:lpstr>TradeGothic</vt:lpstr>
      <vt:lpstr>Segoe Print</vt:lpstr>
      <vt:lpstr>TradeGothic</vt:lpstr>
      <vt:lpstr>Arial</vt:lpstr>
      <vt:lpstr>Times New Roman</vt:lpstr>
      <vt:lpstr>Garamond</vt:lpstr>
      <vt:lpstr>Calibri</vt:lpstr>
      <vt:lpstr>Microsoft YaHei</vt:lpstr>
      <vt:lpstr>Arial Unicode MS</vt:lpstr>
      <vt:lpstr>Arial Narrow</vt:lpstr>
      <vt:lpstr>times</vt:lpstr>
      <vt:lpstr>times </vt:lpstr>
      <vt:lpstr>Segoe UI Symbol</vt:lpstr>
      <vt:lpstr>Office Theme</vt:lpstr>
      <vt:lpstr>SMART INDIA HACKATHON 2026</vt:lpstr>
      <vt:lpstr>RetinaCare AI – Explainable Diabetic Retinopathy Screening for Rural India </vt:lpstr>
      <vt:lpstr>TECHNICAL APPROACH</vt:lpstr>
      <vt:lpstr>FEASIBILITY AND VIABILITY</vt:lpstr>
      <vt:lpstr>IMPACT AND BENEFITS</vt:lpstr>
      <vt:lpstr>RESEARCH  AND REFERENCES</vt:lpstr>
    </vt:vector>
  </TitlesOfParts>
  <Company>Crowdfunder,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mguru prakash</cp:lastModifiedBy>
  <cp:revision>153</cp:revision>
  <dcterms:created xsi:type="dcterms:W3CDTF">2013-12-12T18:46:00Z</dcterms:created>
  <dcterms:modified xsi:type="dcterms:W3CDTF">2026-09-08T06:01:41Z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0BA36BA3702A4E80955AC1F0071BD8C8_12</vt:lpwstr>
  </property>
</Properties>
</file>